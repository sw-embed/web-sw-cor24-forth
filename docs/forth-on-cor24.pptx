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d61afbc-3d93-bfb9-09d6-c9669175780e}">
          <p14:sldIdLst>
            <p14:sldId id="256"/>
            <p14:sldId id="257"/>
          </p14:sldIdLst>
        </p14:section>
        <p14:section name="The target" id="{61592790-3fbf-84e0-2557-5dfe5331b727}">
          <p14:sldIdLst>
            <p14:sldId id="258"/>
            <p14:sldId id="259"/>
            <p14:sldId id="260"/>
            <p14:sldId id="261"/>
            <p14:sldId id="262"/>
          </p14:sldIdLst>
        </p14:section>
        <p14:section name="Implementations" id="{6c6d2e8e-17d0-1e1a-ea84-fa4645ead82d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Demos" id="{6855864c-6bf8-3743-064b-448a2039f8af}">
          <p14:sldIdLst>
            <p14:sldId id="272"/>
            <p14:sldId id="273"/>
            <p14:sldId id="274"/>
          </p14:sldIdLst>
        </p14:section>
        <p14:section name="Working with words" id="{f08c2a17-7167-5ad2-f276-ad53b34724fb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covers the COR24 target and its ISA limits, the three Forth implementations in sw-cor24-forth, how they compare with other Forths, the demo set in the web UI, and the everyday workflow of defining, listing, running and redefining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B67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Forth on COR24  ·  sw-embed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Forth on COR24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Forth kernels for a 24-bit soft CPU: all assembly, Forth-in-Forth, Forth on a Forth-shaped substrate, and a fourth, compiled by Forth, in progress</a:t>
            </a:r>
            <a:endParaRPr lang="en-US" sz="1800" dirty="0"/>
          </a:p>
        </p:txBody>
      </p:sp>
      <p:sp>
        <p:nvSpPr>
          <p:cNvPr id="4" name="code background 1"/>
          <p:cNvSpPr/>
          <p:nvPr/>
        </p:nvSpPr>
        <p:spPr>
          <a:xfrm>
            <a:off x="548640" y="3429000"/>
            <a:ext cx="475488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 2"/>
          <p:cNvSpPr txBox="1"/>
          <p:nvPr/>
        </p:nvSpPr>
        <p:spPr>
          <a:xfrm>
            <a:off x="676656" y="3502152"/>
            <a:ext cx="4498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SQUARE  DUP * 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SQUARE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 ok</a:t>
            </a:r>
            <a:endParaRPr lang="en-US" sz="1200" dirty="0"/>
          </a:p>
        </p:txBody>
      </p:sp>
      <p:sp>
        <p:nvSpPr>
          <p:cNvPr id="6" name="title author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Mike Wright</a:t>
            </a:r>
            <a:endParaRPr lang="en-US" sz="1400" dirty="0"/>
          </a:p>
        </p:txBody>
      </p:sp>
      <p:sp>
        <p:nvSpPr>
          <p:cNvPr id="7" name="title footer"/>
          <p:cNvSpPr txBox="1"/>
          <p:nvPr/>
        </p:nvSpPr>
        <p:spPr>
          <a:xfrm>
            <a:off x="4206240" y="4526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2026 October 24  ·sw-embed.github.io/web-sw-cor24-forth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this deck covers</a:t>
            </a:r>
            <a:endParaRPr lang="en-US" sz="2600" dirty="0"/>
          </a:p>
        </p:txBody>
      </p:sp>
      <p:sp>
        <p:nvSpPr>
          <p:cNvPr id="3" name="agenda icon 3"/>
          <p:cNvSpPr/>
          <p:nvPr/>
        </p:nvSpPr>
        <p:spPr>
          <a:xfrm>
            <a:off x="548640" y="10789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agenda num 4"/>
          <p:cNvSpPr txBox="1"/>
          <p:nvPr/>
        </p:nvSpPr>
        <p:spPr>
          <a:xfrm>
            <a:off x="548640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agenda head 5"/>
          <p:cNvSpPr txBox="1"/>
          <p:nvPr/>
        </p:nvSpPr>
        <p:spPr>
          <a:xfrm>
            <a:off x="118872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target</a:t>
            </a:r>
            <a:endParaRPr lang="en-US" sz="1600" dirty="0"/>
          </a:p>
        </p:txBody>
      </p:sp>
      <p:sp>
        <p:nvSpPr>
          <p:cNvPr id="6" name="agenda body 6"/>
          <p:cNvSpPr txBox="1"/>
          <p:nvPr/>
        </p:nvSpPr>
        <p:spPr>
          <a:xfrm>
            <a:off x="118872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COR24 in one page, and what its ISA takes away from a Forth writer.</a:t>
            </a:r>
            <a:endParaRPr lang="en-US" sz="1250" dirty="0"/>
          </a:p>
        </p:txBody>
      </p:sp>
      <p:sp>
        <p:nvSpPr>
          <p:cNvPr id="7" name="agenda icon 7"/>
          <p:cNvSpPr/>
          <p:nvPr/>
        </p:nvSpPr>
        <p:spPr>
          <a:xfrm>
            <a:off x="548640" y="181051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agenda num 8"/>
          <p:cNvSpPr txBox="1"/>
          <p:nvPr/>
        </p:nvSpPr>
        <p:spPr>
          <a:xfrm>
            <a:off x="54864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agenda head 9"/>
          <p:cNvSpPr txBox="1"/>
          <p:nvPr/>
        </p:nvSpPr>
        <p:spPr>
          <a:xfrm>
            <a:off x="1188720" y="1737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Three implementations</a:t>
            </a:r>
            <a:endParaRPr lang="en-US" sz="1600" dirty="0"/>
          </a:p>
        </p:txBody>
      </p:sp>
      <p:sp>
        <p:nvSpPr>
          <p:cNvPr id="10" name="agenda body 10"/>
          <p:cNvSpPr txBox="1"/>
          <p:nvPr/>
        </p:nvSpPr>
        <p:spPr>
          <a:xfrm>
            <a:off x="1188720" y="2029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forth.s, forth-in-forth and forth-on-forthish: what each keeps in assembly and why. Plus forth.s hosted inside SWTOS.</a:t>
            </a:r>
            <a:endParaRPr lang="en-US" sz="1250" dirty="0"/>
          </a:p>
        </p:txBody>
      </p:sp>
      <p:sp>
        <p:nvSpPr>
          <p:cNvPr id="11" name="agenda icon 11"/>
          <p:cNvSpPr/>
          <p:nvPr/>
        </p:nvSpPr>
        <p:spPr>
          <a:xfrm>
            <a:off x="54864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agenda num 12"/>
          <p:cNvSpPr txBox="1"/>
          <p:nvPr/>
        </p:nvSpPr>
        <p:spPr>
          <a:xfrm>
            <a:off x="54864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agenda head 13"/>
          <p:cNvSpPr txBox="1"/>
          <p:nvPr/>
        </p:nvSpPr>
        <p:spPr>
          <a:xfrm>
            <a:off x="1188720" y="2468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Choices vs. other Forths</a:t>
            </a:r>
            <a:endParaRPr lang="en-US" sz="1600" dirty="0"/>
          </a:p>
        </p:txBody>
      </p:sp>
      <p:sp>
        <p:nvSpPr>
          <p:cNvPr id="14" name="agenda body 14"/>
          <p:cNvSpPr txBox="1"/>
          <p:nvPr/>
        </p:nvSpPr>
        <p:spPr>
          <a:xfrm>
            <a:off x="1188720" y="2761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Threading, cell size, HERE semantics, division, dictionary search.</a:t>
            </a:r>
            <a:endParaRPr lang="en-US" sz="1250" dirty="0"/>
          </a:p>
        </p:txBody>
      </p:sp>
      <p:sp>
        <p:nvSpPr>
          <p:cNvPr id="15" name="agenda icon 15"/>
          <p:cNvSpPr/>
          <p:nvPr/>
        </p:nvSpPr>
        <p:spPr>
          <a:xfrm>
            <a:off x="548640" y="327355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agenda num 16"/>
          <p:cNvSpPr txBox="1"/>
          <p:nvPr/>
        </p:nvSpPr>
        <p:spPr>
          <a:xfrm>
            <a:off x="54864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agenda head 17"/>
          <p:cNvSpPr txBox="1"/>
          <p:nvPr/>
        </p:nvSpPr>
        <p:spPr>
          <a:xfrm>
            <a:off x="1188720" y="3200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demos</a:t>
            </a:r>
            <a:endParaRPr lang="en-US" sz="1600" dirty="0"/>
          </a:p>
        </p:txBody>
      </p:sp>
      <p:sp>
        <p:nvSpPr>
          <p:cNvPr id="18" name="agenda body 18"/>
          <p:cNvSpPr txBox="1"/>
          <p:nvPr/>
        </p:nvSpPr>
        <p:spPr>
          <a:xfrm>
            <a:off x="1188720" y="3493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What each dropdown entry teaches, which tabs run it, and the hardware demos.</a:t>
            </a:r>
            <a:endParaRPr lang="en-US" sz="1250" dirty="0"/>
          </a:p>
        </p:txBody>
      </p:sp>
      <p:sp>
        <p:nvSpPr>
          <p:cNvPr id="19" name="agenda icon 19"/>
          <p:cNvSpPr/>
          <p:nvPr/>
        </p:nvSpPr>
        <p:spPr>
          <a:xfrm>
            <a:off x="548640" y="40050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agenda num 20"/>
          <p:cNvSpPr txBox="1"/>
          <p:nvPr/>
        </p:nvSpPr>
        <p:spPr>
          <a:xfrm>
            <a:off x="54864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agenda head 21"/>
          <p:cNvSpPr txBox="1"/>
          <p:nvPr/>
        </p:nvSpPr>
        <p:spPr>
          <a:xfrm>
            <a:off x="1188720" y="3931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Working with words</a:t>
            </a:r>
            <a:endParaRPr lang="en-US" sz="1600" dirty="0"/>
          </a:p>
        </p:txBody>
      </p:sp>
      <p:sp>
        <p:nvSpPr>
          <p:cNvPr id="22" name="agenda body 22"/>
          <p:cNvSpPr txBox="1"/>
          <p:nvPr/>
        </p:nvSpPr>
        <p:spPr>
          <a:xfrm>
            <a:off x="118872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Define, run, list, inspect, redefine and forget, in the web UI and on the CLI.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target: COR24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24-bit RISC soft CPU for Lattice MachXO FPGAs (makerlisp.com)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COR24 at a glance</a:t>
            </a:r>
            <a:endParaRPr lang="en-US" sz="2600" dirty="0"/>
          </a:p>
        </p:txBody>
      </p:sp>
      <p:sp>
        <p:nvSpPr>
          <p:cNvPr id="3" name="stat 23"/>
          <p:cNvSpPr txBox="1"/>
          <p:nvPr/>
        </p:nvSpPr>
        <p:spPr>
          <a:xfrm>
            <a:off x="457200" y="914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24-bit</a:t>
            </a:r>
            <a:endParaRPr lang="en-US" sz="4000" dirty="0"/>
          </a:p>
        </p:txBody>
      </p:sp>
      <p:sp>
        <p:nvSpPr>
          <p:cNvPr id="4" name="stat label 24"/>
          <p:cNvSpPr txBox="1"/>
          <p:nvPr/>
        </p:nvSpPr>
        <p:spPr>
          <a:xfrm>
            <a:off x="45720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registers, addresses and cells; one cell is 3 bytes</a:t>
            </a:r>
            <a:endParaRPr lang="en-US" sz="1100" dirty="0"/>
          </a:p>
        </p:txBody>
      </p:sp>
      <p:sp>
        <p:nvSpPr>
          <p:cNvPr id="5" name="stat 25"/>
          <p:cNvSpPr txBox="1"/>
          <p:nvPr/>
        </p:nvSpPr>
        <p:spPr>
          <a:xfrm>
            <a:off x="457200" y="2148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32</a:t>
            </a:r>
            <a:endParaRPr lang="en-US" sz="4000" dirty="0"/>
          </a:p>
        </p:txBody>
      </p:sp>
      <p:sp>
        <p:nvSpPr>
          <p:cNvPr id="6" name="stat label 26"/>
          <p:cNvSpPr txBox="1"/>
          <p:nvPr/>
        </p:nvSpPr>
        <p:spPr>
          <a:xfrm>
            <a:off x="457200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opcodes in 211 forms; instructions are 1, 2 or 4 bytes</a:t>
            </a:r>
            <a:endParaRPr lang="en-US" sz="1100" dirty="0"/>
          </a:p>
        </p:txBody>
      </p:sp>
      <p:sp>
        <p:nvSpPr>
          <p:cNvPr id="7" name="stat 27"/>
          <p:cNvSpPr txBox="1"/>
          <p:nvPr/>
        </p:nvSpPr>
        <p:spPr>
          <a:xfrm>
            <a:off x="457200" y="3383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</a:t>
            </a:r>
            <a:endParaRPr lang="en-US" sz="4000" dirty="0"/>
          </a:p>
        </p:txBody>
      </p:sp>
      <p:sp>
        <p:nvSpPr>
          <p:cNvPr id="8" name="stat label 28"/>
          <p:cNvSpPr txBox="1"/>
          <p:nvPr/>
        </p:nvSpPr>
        <p:spPr>
          <a:xfrm>
            <a:off x="457200" y="4096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condition flag (C), set by ceq / clu / cls, tested by brt / brf</a:t>
            </a:r>
            <a:endParaRPr lang="en-US" sz="1100" dirty="0"/>
          </a:p>
        </p:txBody>
      </p:sp>
      <p:graphicFrame>
        <p:nvGraphicFramePr>
          <p:cNvPr id="5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914400"/>
          <a:ext cx="5943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937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Forth kernels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W: work register, holds the fetched CFA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RSP: return stack pointer, SRAM 0x0F0000 growing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IP: threaded-code instruction pointer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DSP: data stack, hardware push / pop into 3 KB EBR, starts 0xFEEC00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scratch; the only register that can index the EBR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z, iv, 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hardwired zero; interrupt vector and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301752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MB SRAM: kernel, dictionary, return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0xFEE000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KB EBR block RAM: the hardware data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D2 (write) and switch S2 (read), same pin, active-low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0xFF0100 / 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 data and status (bit 0 RX ready, bit 7 TX busy)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the ISA takes away from a Forth writer</a:t>
            </a:r>
            <a:endParaRPr lang="en-US" sz="2600" dirty="0"/>
          </a:p>
        </p:txBody>
      </p:sp>
      <p:sp>
        <p:nvSpPr>
          <p:cNvPr id="3" name="card 31"/>
          <p:cNvSpPr/>
          <p:nvPr/>
        </p:nvSpPr>
        <p:spPr>
          <a:xfrm>
            <a:off x="457200" y="91440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32"/>
          <p:cNvSpPr/>
          <p:nvPr/>
        </p:nvSpPr>
        <p:spPr>
          <a:xfrm>
            <a:off x="603504" y="10515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glyph 33"/>
          <p:cNvSpPr txBox="1"/>
          <p:nvPr/>
        </p:nvSpPr>
        <p:spPr>
          <a:xfrm>
            <a:off x="60350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6" name="card head 34"/>
          <p:cNvSpPr txBox="1"/>
          <p:nvPr/>
        </p:nvSpPr>
        <p:spPr>
          <a:xfrm>
            <a:off x="104241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Only r0, r1, r2 take results</a:t>
            </a:r>
            <a:endParaRPr lang="en-US" sz="1400" dirty="0"/>
          </a:p>
        </p:txBody>
      </p:sp>
      <p:sp>
        <p:nvSpPr>
          <p:cNvPr id="7" name="card body 35"/>
          <p:cNvSpPr txBox="1"/>
          <p:nvPr/>
        </p:nvSpPr>
        <p:spPr>
          <a:xfrm>
            <a:off x="603504" y="149961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Loads and ALU results never land in fp or sp. There is no mov r0, sp: reading the stack pointer is mov fp, sp; push fp; pop r0. DEPTH and .S pay that dance.</a:t>
            </a:r>
            <a:endParaRPr lang="en-US" sz="1050" dirty="0"/>
          </a:p>
        </p:txBody>
      </p:sp>
      <p:sp>
        <p:nvSpPr>
          <p:cNvPr id="8" name="card 36"/>
          <p:cNvSpPr/>
          <p:nvPr/>
        </p:nvSpPr>
        <p:spPr>
          <a:xfrm>
            <a:off x="3223260" y="91440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37"/>
          <p:cNvSpPr/>
          <p:nvPr/>
        </p:nvSpPr>
        <p:spPr>
          <a:xfrm>
            <a:off x="3369564" y="105156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glyph 38"/>
          <p:cNvSpPr txBox="1"/>
          <p:nvPr/>
        </p:nvSpPr>
        <p:spPr>
          <a:xfrm>
            <a:off x="336956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±</a:t>
            </a:r>
            <a:endParaRPr lang="en-US" sz="1200" dirty="0"/>
          </a:p>
        </p:txBody>
      </p:sp>
      <p:sp>
        <p:nvSpPr>
          <p:cNvPr id="11" name="card head 39"/>
          <p:cNvSpPr txBox="1"/>
          <p:nvPr/>
        </p:nvSpPr>
        <p:spPr>
          <a:xfrm>
            <a:off x="380847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Branches reach ±127 bytes</a:t>
            </a:r>
            <a:endParaRPr lang="en-US" sz="1400" dirty="0"/>
          </a:p>
        </p:txBody>
      </p:sp>
      <p:sp>
        <p:nvSpPr>
          <p:cNvPr id="12" name="card body 40"/>
          <p:cNvSpPr txBox="1"/>
          <p:nvPr/>
        </p:nvSpPr>
        <p:spPr>
          <a:xfrm>
            <a:off x="3369564" y="149961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Anything farther is la r0, label; jmp (r0): 5 bytes and a clobbered W. The colon-word entry template therefore comes in a 3-byte near and a 6-byte far form.</a:t>
            </a:r>
            <a:endParaRPr lang="en-US" sz="1050" dirty="0"/>
          </a:p>
        </p:txBody>
      </p:sp>
      <p:sp>
        <p:nvSpPr>
          <p:cNvPr id="13" name="card 41"/>
          <p:cNvSpPr/>
          <p:nvPr/>
        </p:nvSpPr>
        <p:spPr>
          <a:xfrm>
            <a:off x="5989320" y="91440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42"/>
          <p:cNvSpPr/>
          <p:nvPr/>
        </p:nvSpPr>
        <p:spPr>
          <a:xfrm>
            <a:off x="6135624" y="105156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glyph 43"/>
          <p:cNvSpPr txBox="1"/>
          <p:nvPr/>
        </p:nvSpPr>
        <p:spPr>
          <a:xfrm>
            <a:off x="613562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r1</a:t>
            </a:r>
            <a:endParaRPr lang="en-US" sz="1200" dirty="0"/>
          </a:p>
        </p:txBody>
      </p:sp>
      <p:sp>
        <p:nvSpPr>
          <p:cNvPr id="16" name="card head 44"/>
          <p:cNvSpPr txBox="1"/>
          <p:nvPr/>
        </p:nvSpPr>
        <p:spPr>
          <a:xfrm>
            <a:off x="657453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jal links through r1</a:t>
            </a:r>
            <a:endParaRPr lang="en-US" sz="1400" dirty="0"/>
          </a:p>
        </p:txBody>
      </p:sp>
      <p:sp>
        <p:nvSpPr>
          <p:cNvPr id="17" name="card body 45"/>
          <p:cNvSpPr txBox="1"/>
          <p:nvPr/>
        </p:nvSpPr>
        <p:spPr>
          <a:xfrm>
            <a:off x="6135624" y="149961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r1 is the return stack pointer, so the kernels never use call / return. Every primitive ends in an inlined NEXT and all nesting goes through the Forth return stack.</a:t>
            </a:r>
            <a:endParaRPr lang="en-US" sz="1050" dirty="0"/>
          </a:p>
        </p:txBody>
      </p:sp>
      <p:sp>
        <p:nvSpPr>
          <p:cNvPr id="18" name="card 46"/>
          <p:cNvSpPr/>
          <p:nvPr/>
        </p:nvSpPr>
        <p:spPr>
          <a:xfrm>
            <a:off x="457200" y="278892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47"/>
          <p:cNvSpPr/>
          <p:nvPr/>
        </p:nvSpPr>
        <p:spPr>
          <a:xfrm>
            <a:off x="603504" y="2926080"/>
            <a:ext cx="347472" cy="34747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glyph 48"/>
          <p:cNvSpPr txBox="1"/>
          <p:nvPr/>
        </p:nvSpPr>
        <p:spPr>
          <a:xfrm>
            <a:off x="603504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÷</a:t>
            </a:r>
            <a:endParaRPr lang="en-US" sz="1200" dirty="0"/>
          </a:p>
        </p:txBody>
      </p:sp>
      <p:sp>
        <p:nvSpPr>
          <p:cNvPr id="21" name="card head 49"/>
          <p:cNvSpPr txBox="1"/>
          <p:nvPr/>
        </p:nvSpPr>
        <p:spPr>
          <a:xfrm>
            <a:off x="1042416" y="289864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mul, but no divide</a:t>
            </a:r>
            <a:endParaRPr lang="en-US" sz="1400" dirty="0"/>
          </a:p>
        </p:txBody>
      </p:sp>
      <p:sp>
        <p:nvSpPr>
          <p:cNvPr id="22" name="card body 50"/>
          <p:cNvSpPr txBox="1"/>
          <p:nvPr/>
        </p:nvSpPr>
        <p:spPr>
          <a:xfrm>
            <a:off x="603504" y="337413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/MOD is repeated subtraction: assembly on forth.s, a Forth loop on forth-on-forthish. Printing a number with . is the most expensive thing a demo does.</a:t>
            </a:r>
            <a:endParaRPr lang="en-US" sz="1050" dirty="0"/>
          </a:p>
        </p:txBody>
      </p:sp>
      <p:sp>
        <p:nvSpPr>
          <p:cNvPr id="23" name="card 51"/>
          <p:cNvSpPr/>
          <p:nvPr/>
        </p:nvSpPr>
        <p:spPr>
          <a:xfrm>
            <a:off x="3223260" y="278892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52"/>
          <p:cNvSpPr/>
          <p:nvPr/>
        </p:nvSpPr>
        <p:spPr>
          <a:xfrm>
            <a:off x="3369564" y="2926080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glyph 53"/>
          <p:cNvSpPr txBox="1"/>
          <p:nvPr/>
        </p:nvSpPr>
        <p:spPr>
          <a:xfrm>
            <a:off x="3369564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6" name="card head 54"/>
          <p:cNvSpPr txBox="1"/>
          <p:nvPr/>
        </p:nvSpPr>
        <p:spPr>
          <a:xfrm>
            <a:off x="3808476" y="289864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8-bit immediates, decimal only</a:t>
            </a:r>
            <a:endParaRPr lang="en-US" sz="1400" dirty="0"/>
          </a:p>
        </p:txBody>
      </p:sp>
      <p:sp>
        <p:nvSpPr>
          <p:cNvPr id="27" name="card body 55"/>
          <p:cNvSpPr txBox="1"/>
          <p:nvPr/>
        </p:nvSpPr>
        <p:spPr>
          <a:xfrm>
            <a:off x="3369564" y="337413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 costs 4 bytes and is the only way to reach I/O: la r0, -65280 for the UART. No string literals, no .align; names are .byte lists padded by hand.</a:t>
            </a:r>
            <a:endParaRPr lang="en-US" sz="1050" dirty="0"/>
          </a:p>
        </p:txBody>
      </p:sp>
      <p:sp>
        <p:nvSpPr>
          <p:cNvPr id="28" name="card 56"/>
          <p:cNvSpPr/>
          <p:nvPr/>
        </p:nvSpPr>
        <p:spPr>
          <a:xfrm>
            <a:off x="5989320" y="278892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57"/>
          <p:cNvSpPr/>
          <p:nvPr/>
        </p:nvSpPr>
        <p:spPr>
          <a:xfrm>
            <a:off x="6135624" y="292608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glyph 58"/>
          <p:cNvSpPr txBox="1"/>
          <p:nvPr/>
        </p:nvSpPr>
        <p:spPr>
          <a:xfrm>
            <a:off x="6135624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31" name="card head 59"/>
          <p:cNvSpPr txBox="1"/>
          <p:nvPr/>
        </p:nvSpPr>
        <p:spPr>
          <a:xfrm>
            <a:off x="6574536" y="289864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3 KB data stack that halts</a:t>
            </a:r>
            <a:endParaRPr lang="en-US" sz="1400" dirty="0"/>
          </a:p>
        </p:txBody>
      </p:sp>
      <p:sp>
        <p:nvSpPr>
          <p:cNvPr id="32" name="card body 60"/>
          <p:cNvSpPr txBox="1"/>
          <p:nvPr/>
        </p:nvSpPr>
        <p:spPr>
          <a:xfrm>
            <a:off x="6135624" y="337413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About 1,000 cells. The emulator stops the CPU on overflow, so a word that leaks one cell per loop turn kills a demo after ~500 turns. That exact bug shipped once (see Demos).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Design shared by all three kernels</a:t>
            </a:r>
            <a:endParaRPr lang="en-US" sz="2600" dirty="0"/>
          </a:p>
        </p:txBody>
      </p:sp>
      <p:sp>
        <p:nvSpPr>
          <p:cNvPr id="3" name="next caption"/>
          <p:cNvSpPr txBox="1"/>
          <p:nvPr/>
        </p:nvSpPr>
        <p:spPr>
          <a:xfrm>
            <a:off x="457200" y="914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Direct-threaded code: NEXT is 3 instructions, 5 bytes, inlined at the tail of every primitive</a:t>
            </a:r>
            <a:endParaRPr lang="en-US" sz="1250" dirty="0"/>
          </a:p>
        </p:txBody>
      </p:sp>
      <p:sp>
        <p:nvSpPr>
          <p:cNvPr id="4" name="code background 61"/>
          <p:cNvSpPr/>
          <p:nvPr/>
        </p:nvSpPr>
        <p:spPr>
          <a:xfrm>
            <a:off x="457200" y="1371600"/>
            <a:ext cx="420624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 62"/>
          <p:cNvSpPr txBox="1"/>
          <p:nvPr/>
        </p:nvSpPr>
        <p:spPr>
          <a:xfrm>
            <a:off x="585216" y="1444752"/>
            <a:ext cx="39502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r0, 0(r2)   ; W  = mem[IP]  (fetch CFA)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r2, 3       ; IP += one cell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 (r0)        ; run the primitive</a:t>
            </a:r>
            <a:endParaRPr lang="en-US" sz="1050" dirty="0"/>
          </a:p>
        </p:txBody>
      </p:sp>
      <p:sp>
        <p:nvSpPr>
          <p:cNvPr id="6" name="dict caption"/>
          <p:cNvSpPr txBox="1"/>
          <p:nvPr/>
        </p:nvSpPr>
        <p:spPr>
          <a:xfrm>
            <a:off x="45720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Dictionary entry: a singly linked list, newest first</a:t>
            </a:r>
            <a:endParaRPr lang="en-US" sz="1250" dirty="0"/>
          </a:p>
        </p:txBody>
      </p:sp>
      <p:sp>
        <p:nvSpPr>
          <p:cNvPr id="7" name="code background 63"/>
          <p:cNvSpPr/>
          <p:nvPr/>
        </p:nvSpPr>
        <p:spPr>
          <a:xfrm>
            <a:off x="457200" y="2743200"/>
            <a:ext cx="420624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de 64"/>
          <p:cNvSpPr txBox="1"/>
          <p:nvPr/>
        </p:nvSpPr>
        <p:spPr>
          <a:xfrm>
            <a:off x="585216" y="2816352"/>
            <a:ext cx="39502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     3 bytes  previous entry, 0 ends the 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flags_len 1 byte   bit7 IMMEDIATE, bit6 HIDDEN, len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N bytes  no terminator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CFA       3 or 6 B near/far DOCOL template,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or the primitive's own code</a:t>
            </a:r>
            <a:endParaRPr lang="en-US" sz="1000" dirty="0"/>
          </a:p>
        </p:txBody>
      </p:sp>
      <p:sp>
        <p:nvSpPr>
          <p:cNvPr id="9" name="bullets 65"/>
          <p:cNvSpPr txBox="1"/>
          <p:nvPr/>
        </p:nvSpPr>
        <p:spPr>
          <a:xfrm>
            <a:off x="5029200" y="91440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Registers are frozen across kernels: r0 = W, r1 = RSP in SRAM, r2 = IP, sp = DSP in EBR.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HERE, LATEST, STATE and BASE push the variable's address, so Forth code writes HERE @. Unusual (JonesForth does it, ANS does not) but it keeps ! writes trivial.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loader: the kernel boots straight into QUIT and everything else, including core/*.fth, arrives as UART text, exactly as if typed.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outer loop echoes ok after every clean line and ? after an unknown token; a stack underflow prints a message and returns to the prompt.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FIND walks the link chain on forth.s; tabs 2 and 3 add a 256-bucket first-character hash in front of the walk.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Choices compared with other popular Forths</a:t>
            </a:r>
            <a:endParaRPr lang="en-US" sz="2600" dirty="0"/>
          </a:p>
        </p:txBody>
      </p:sp>
      <p:graphicFrame>
        <p:nvGraphicFramePr>
          <p:cNvPr id="8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40280"/>
                <a:gridCol w="1463040"/>
                <a:gridCol w="160020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COR24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DTC, inlined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 or subroutine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DTC / ITC /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24-bit (3 bytes)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32-bit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64-bit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asm, down to ~22 prims +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x86 asm +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prims +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+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pragmatic 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Forth-2012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(HERE @)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(HERE @)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subtraction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idiv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Forth-coded UM/MOD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 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walk + first-char 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walk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walk, vocabularies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memory-mapped UART, LED, 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syscalls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OS,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24-bit, BASE; no floats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32-bit, no floats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32-bit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floats, doubles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issing note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Deliberately missing: floating point, strings beyond EMIT, blocks, vocabularies, exceptions. Each would cost assembly the board does not need.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Three implementations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  ·  in-ish  ·  from: how much of the kernel is Forth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language, three kernels (and a fourth under way)</a:t>
            </a:r>
            <a:endParaRPr lang="en-US" sz="2600" dirty="0"/>
          </a:p>
        </p:txBody>
      </p:sp>
      <p:sp>
        <p:nvSpPr>
          <p:cNvPr id="3" name="kernel card 67"/>
          <p:cNvSpPr/>
          <p:nvPr/>
        </p:nvSpPr>
        <p:spPr>
          <a:xfrm>
            <a:off x="457200" y="914400"/>
            <a:ext cx="2651760" cy="32461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ernel icon 68"/>
          <p:cNvSpPr/>
          <p:nvPr/>
        </p:nvSpPr>
        <p:spPr>
          <a:xfrm>
            <a:off x="603504" y="1042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kernel num 69"/>
          <p:cNvSpPr txBox="1"/>
          <p:nvPr/>
        </p:nvSpPr>
        <p:spPr>
          <a:xfrm>
            <a:off x="603504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kernel name 70"/>
          <p:cNvSpPr txBox="1"/>
          <p:nvPr/>
        </p:nvSpPr>
        <p:spPr>
          <a:xfrm>
            <a:off x="1060704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forth.s</a:t>
            </a:r>
            <a:endParaRPr lang="en-US" sz="1400" dirty="0"/>
          </a:p>
        </p:txBody>
      </p:sp>
      <p:sp>
        <p:nvSpPr>
          <p:cNvPr id="7" name="kernel tag 71"/>
          <p:cNvSpPr txBox="1"/>
          <p:nvPr/>
        </p:nvSpPr>
        <p:spPr>
          <a:xfrm>
            <a:off x="1060704" y="1261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All-assembly kernel</a:t>
            </a:r>
            <a:endParaRPr lang="en-US" sz="1050" dirty="0"/>
          </a:p>
        </p:txBody>
      </p:sp>
      <p:sp>
        <p:nvSpPr>
          <p:cNvPr id="8" name="kernel stat 72"/>
          <p:cNvSpPr txBox="1"/>
          <p:nvPr/>
        </p:nvSpPr>
        <p:spPr>
          <a:xfrm>
            <a:off x="603504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3,498</a:t>
            </a:r>
            <a:endParaRPr lang="en-US" sz="2000" dirty="0"/>
          </a:p>
        </p:txBody>
      </p:sp>
      <p:sp>
        <p:nvSpPr>
          <p:cNvPr id="9" name="kernel stat label 73"/>
          <p:cNvSpPr txBox="1"/>
          <p:nvPr/>
        </p:nvSpPr>
        <p:spPr>
          <a:xfrm>
            <a:off x="1627632" y="16459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of asm</a:t>
            </a:r>
            <a:endParaRPr lang="en-US" sz="1050" dirty="0"/>
          </a:p>
        </p:txBody>
      </p:sp>
      <p:sp>
        <p:nvSpPr>
          <p:cNvPr id="10" name="kernel stat 74"/>
          <p:cNvSpPr txBox="1"/>
          <p:nvPr/>
        </p:nvSpPr>
        <p:spPr>
          <a:xfrm>
            <a:off x="603504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</a:t>
            </a:r>
            <a:endParaRPr lang="en-US" sz="2000" dirty="0"/>
          </a:p>
        </p:txBody>
      </p:sp>
      <p:sp>
        <p:nvSpPr>
          <p:cNvPr id="11" name="kernel stat label 75"/>
          <p:cNvSpPr txBox="1"/>
          <p:nvPr/>
        </p:nvSpPr>
        <p:spPr>
          <a:xfrm>
            <a:off x="1627632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of Forth core</a:t>
            </a:r>
            <a:endParaRPr lang="en-US" sz="1050" dirty="0"/>
          </a:p>
        </p:txBody>
      </p:sp>
      <p:sp>
        <p:nvSpPr>
          <p:cNvPr id="12" name="kernel stat 76"/>
          <p:cNvSpPr txBox="1"/>
          <p:nvPr/>
        </p:nvSpPr>
        <p:spPr>
          <a:xfrm>
            <a:off x="603504" y="27797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~65</a:t>
            </a:r>
            <a:endParaRPr lang="en-US" sz="2000" dirty="0"/>
          </a:p>
        </p:txBody>
      </p:sp>
      <p:sp>
        <p:nvSpPr>
          <p:cNvPr id="13" name="kernel stat label 77"/>
          <p:cNvSpPr txBox="1"/>
          <p:nvPr/>
        </p:nvSpPr>
        <p:spPr>
          <a:xfrm>
            <a:off x="1627632" y="277977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primitives</a:t>
            </a:r>
            <a:endParaRPr lang="en-US" sz="1050" dirty="0"/>
          </a:p>
        </p:txBody>
      </p:sp>
      <p:sp>
        <p:nvSpPr>
          <p:cNvPr id="14" name="kernel blurb 78"/>
          <p:cNvSpPr txBox="1"/>
          <p:nvPr/>
        </p:nvSpPr>
        <p:spPr>
          <a:xfrm>
            <a:off x="603504" y="338328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Tab 1: the debugger. Canonical kernel for the FPGA board and the reg-rs golden tests.</a:t>
            </a:r>
            <a:endParaRPr lang="en-US" sz="1050" dirty="0"/>
          </a:p>
        </p:txBody>
      </p:sp>
      <p:sp>
        <p:nvSpPr>
          <p:cNvPr id="15" name="kernel card 79"/>
          <p:cNvSpPr/>
          <p:nvPr/>
        </p:nvSpPr>
        <p:spPr>
          <a:xfrm>
            <a:off x="3246120" y="914400"/>
            <a:ext cx="2651760" cy="32461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kernel icon 80"/>
          <p:cNvSpPr/>
          <p:nvPr/>
        </p:nvSpPr>
        <p:spPr>
          <a:xfrm>
            <a:off x="3392424" y="104241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kernel num 81"/>
          <p:cNvSpPr txBox="1"/>
          <p:nvPr/>
        </p:nvSpPr>
        <p:spPr>
          <a:xfrm>
            <a:off x="3392424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kernel name 82"/>
          <p:cNvSpPr txBox="1"/>
          <p:nvPr/>
        </p:nvSpPr>
        <p:spPr>
          <a:xfrm>
            <a:off x="3849624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forth-in-forth</a:t>
            </a:r>
            <a:endParaRPr lang="en-US" sz="1400" dirty="0"/>
          </a:p>
        </p:txBody>
      </p:sp>
      <p:sp>
        <p:nvSpPr>
          <p:cNvPr id="19" name="kernel tag 83"/>
          <p:cNvSpPr txBox="1"/>
          <p:nvPr/>
        </p:nvSpPr>
        <p:spPr>
          <a:xfrm>
            <a:off x="3849624" y="1261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Forth runs in a slimmed asm host</a:t>
            </a:r>
            <a:endParaRPr lang="en-US" sz="1050" dirty="0"/>
          </a:p>
        </p:txBody>
      </p:sp>
      <p:sp>
        <p:nvSpPr>
          <p:cNvPr id="20" name="kernel stat 84"/>
          <p:cNvSpPr txBox="1"/>
          <p:nvPr/>
        </p:nvSpPr>
        <p:spPr>
          <a:xfrm>
            <a:off x="3392424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2,720</a:t>
            </a:r>
            <a:endParaRPr lang="en-US" sz="2000" dirty="0"/>
          </a:p>
        </p:txBody>
      </p:sp>
      <p:sp>
        <p:nvSpPr>
          <p:cNvPr id="21" name="kernel stat label 85"/>
          <p:cNvSpPr txBox="1"/>
          <p:nvPr/>
        </p:nvSpPr>
        <p:spPr>
          <a:xfrm>
            <a:off x="4416552" y="16459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of asm</a:t>
            </a:r>
            <a:endParaRPr lang="en-US" sz="1050" dirty="0"/>
          </a:p>
        </p:txBody>
      </p:sp>
      <p:sp>
        <p:nvSpPr>
          <p:cNvPr id="22" name="kernel stat 86"/>
          <p:cNvSpPr txBox="1"/>
          <p:nvPr/>
        </p:nvSpPr>
        <p:spPr>
          <a:xfrm>
            <a:off x="3392424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276</a:t>
            </a:r>
            <a:endParaRPr lang="en-US" sz="2000" dirty="0"/>
          </a:p>
        </p:txBody>
      </p:sp>
      <p:sp>
        <p:nvSpPr>
          <p:cNvPr id="23" name="kernel stat label 87"/>
          <p:cNvSpPr txBox="1"/>
          <p:nvPr/>
        </p:nvSpPr>
        <p:spPr>
          <a:xfrm>
            <a:off x="4416552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in 4 core tiers</a:t>
            </a:r>
            <a:endParaRPr lang="en-US" sz="1050" dirty="0"/>
          </a:p>
        </p:txBody>
      </p:sp>
      <p:sp>
        <p:nvSpPr>
          <p:cNvPr id="24" name="kernel stat 88"/>
          <p:cNvSpPr txBox="1"/>
          <p:nvPr/>
        </p:nvSpPr>
        <p:spPr>
          <a:xfrm>
            <a:off x="3392424" y="27797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50</a:t>
            </a:r>
            <a:endParaRPr lang="en-US" sz="2000" dirty="0"/>
          </a:p>
        </p:txBody>
      </p:sp>
      <p:sp>
        <p:nvSpPr>
          <p:cNvPr id="25" name="kernel stat label 89"/>
          <p:cNvSpPr txBox="1"/>
          <p:nvPr/>
        </p:nvSpPr>
        <p:spPr>
          <a:xfrm>
            <a:off x="4416552" y="277977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primitives, 61 colon words</a:t>
            </a:r>
            <a:endParaRPr lang="en-US" sz="1050" dirty="0"/>
          </a:p>
        </p:txBody>
      </p:sp>
      <p:sp>
        <p:nvSpPr>
          <p:cNvPr id="26" name="kernel blurb 90"/>
          <p:cNvSpPr txBox="1"/>
          <p:nvPr/>
        </p:nvSpPr>
        <p:spPr>
          <a:xfrm>
            <a:off x="3392424" y="338328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Tab 2: self-hosting REPL. IF, ., WORDS, SEE are Forth.</a:t>
            </a:r>
            <a:endParaRPr lang="en-US" sz="1050" dirty="0"/>
          </a:p>
        </p:txBody>
      </p:sp>
      <p:sp>
        <p:nvSpPr>
          <p:cNvPr id="27" name="kernel card 91"/>
          <p:cNvSpPr/>
          <p:nvPr/>
        </p:nvSpPr>
        <p:spPr>
          <a:xfrm>
            <a:off x="6035040" y="914400"/>
            <a:ext cx="2651760" cy="32461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kernel icon 92"/>
          <p:cNvSpPr/>
          <p:nvPr/>
        </p:nvSpPr>
        <p:spPr>
          <a:xfrm>
            <a:off x="6181344" y="104241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kernel num 93"/>
          <p:cNvSpPr txBox="1"/>
          <p:nvPr/>
        </p:nvSpPr>
        <p:spPr>
          <a:xfrm>
            <a:off x="6181344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kernel name 94"/>
          <p:cNvSpPr txBox="1"/>
          <p:nvPr/>
        </p:nvSpPr>
        <p:spPr>
          <a:xfrm>
            <a:off x="6638544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forth-on-forthish</a:t>
            </a:r>
            <a:endParaRPr lang="en-US" sz="1400" dirty="0"/>
          </a:p>
        </p:txBody>
      </p:sp>
      <p:sp>
        <p:nvSpPr>
          <p:cNvPr id="31" name="kernel tag 95"/>
          <p:cNvSpPr txBox="1"/>
          <p:nvPr/>
        </p:nvSpPr>
        <p:spPr>
          <a:xfrm>
            <a:off x="6638544" y="1261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Forth on a Forth-ish substrate</a:t>
            </a:r>
            <a:endParaRPr lang="en-US" sz="1050" dirty="0"/>
          </a:p>
        </p:txBody>
      </p:sp>
      <p:sp>
        <p:nvSpPr>
          <p:cNvPr id="32" name="kernel stat 96"/>
          <p:cNvSpPr txBox="1"/>
          <p:nvPr/>
        </p:nvSpPr>
        <p:spPr>
          <a:xfrm>
            <a:off x="6181344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2,659</a:t>
            </a:r>
            <a:endParaRPr lang="en-US" sz="2000" dirty="0"/>
          </a:p>
        </p:txBody>
      </p:sp>
      <p:sp>
        <p:nvSpPr>
          <p:cNvPr id="33" name="kernel stat label 97"/>
          <p:cNvSpPr txBox="1"/>
          <p:nvPr/>
        </p:nvSpPr>
        <p:spPr>
          <a:xfrm>
            <a:off x="7205472" y="16459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of asm (see note)</a:t>
            </a:r>
            <a:endParaRPr lang="en-US" sz="1050" dirty="0"/>
          </a:p>
        </p:txBody>
      </p:sp>
      <p:sp>
        <p:nvSpPr>
          <p:cNvPr id="34" name="kernel stat 98"/>
          <p:cNvSpPr txBox="1"/>
          <p:nvPr/>
        </p:nvSpPr>
        <p:spPr>
          <a:xfrm>
            <a:off x="6181344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497</a:t>
            </a:r>
            <a:endParaRPr lang="en-US" sz="2000" dirty="0"/>
          </a:p>
        </p:txBody>
      </p:sp>
      <p:sp>
        <p:nvSpPr>
          <p:cNvPr id="35" name="kernel stat label 99"/>
          <p:cNvSpPr txBox="1"/>
          <p:nvPr/>
        </p:nvSpPr>
        <p:spPr>
          <a:xfrm>
            <a:off x="7205472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in 5 core tiers</a:t>
            </a:r>
            <a:endParaRPr lang="en-US" sz="1050" dirty="0"/>
          </a:p>
        </p:txBody>
      </p:sp>
      <p:sp>
        <p:nvSpPr>
          <p:cNvPr id="36" name="kernel stat 100"/>
          <p:cNvSpPr txBox="1"/>
          <p:nvPr/>
        </p:nvSpPr>
        <p:spPr>
          <a:xfrm>
            <a:off x="6181344" y="27797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~22</a:t>
            </a:r>
            <a:endParaRPr lang="en-US" sz="2000" dirty="0"/>
          </a:p>
        </p:txBody>
      </p:sp>
      <p:sp>
        <p:nvSpPr>
          <p:cNvPr id="37" name="kernel stat label 101"/>
          <p:cNvSpPr txBox="1"/>
          <p:nvPr/>
        </p:nvSpPr>
        <p:spPr>
          <a:xfrm>
            <a:off x="7205472" y="277977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irreducible primitives, 82 colon words</a:t>
            </a:r>
            <a:endParaRPr lang="en-US" sz="1050" dirty="0"/>
          </a:p>
        </p:txBody>
      </p:sp>
      <p:sp>
        <p:nvSpPr>
          <p:cNvPr id="38" name="kernel blurb 102"/>
          <p:cNvSpPr txBox="1"/>
          <p:nvPr/>
        </p:nvSpPr>
        <p:spPr>
          <a:xfrm>
            <a:off x="6181344" y="338328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Tab 3 (default): :, WORD, FIND, NUMBER, INTERPRET, QUIT are Forth.</a:t>
            </a:r>
            <a:endParaRPr lang="en-US" sz="1050" dirty="0"/>
          </a:p>
        </p:txBody>
      </p:sp>
      <p:sp>
        <p:nvSpPr>
          <p:cNvPr id="39" name="phase 4 note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4  forth-from-forth (phase 4, work in progress, two slides on): a cross-compiler written in Forth emits the kernel .s, so no hand-written assembly remains. Retargeting becomes a new asm-emit module.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forth.s: the all-assembly kernel (tab 1)</a:t>
            </a:r>
            <a:endParaRPr lang="en-US" sz="2600" dirty="0"/>
          </a:p>
        </p:txBody>
      </p:sp>
      <p:sp>
        <p:nvSpPr>
          <p:cNvPr id="3" name="bullets 103"/>
          <p:cNvSpPr txBox="1"/>
          <p:nvPr/>
        </p:nvSpPr>
        <p:spPr>
          <a:xfrm>
            <a:off x="457200" y="91440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Generated: forth-core.s (target-independent DTC Forth) + forth-uart.s (UART at 0xFF0100, return stack at 0x0F0000, halting BYE). The layer contract is what lets SWTOS host the same core (next slide).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word is assembly, including IF / THEN, ., WORDS, \ and (. ~65 primitives, 3,879 bytes assembled.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Richest vocabulary: FORGET, :NONAME, DO / ?DO / LOOP / I / UNLOOP, CONSTANT, VARIABLE, AGAIN / WHILE / REPEAT, DEPTH, .S.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Fastest: the Fibonacci demo compiles and runs in about 40 M instructions.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It is what runs on the physical board and what the reg-rs golden-output suite is baselined against, so it changes slowly.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 the web UI it backs the debugger: step, step-over, breakpoints, registers, both stacks and memory, with the UART pump feeding input between steps.</a:t>
            </a:r>
            <a:endParaRPr lang="en-US" sz="1200" dirty="0"/>
          </a:p>
        </p:txBody>
      </p:sp>
      <p:sp>
        <p:nvSpPr>
          <p:cNvPr id="4" name="led caption"/>
          <p:cNvSpPr txBox="1"/>
          <p:nvPr/>
        </p:nvSpPr>
        <p:spPr>
          <a:xfrm>
            <a:off x="539496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 primitive, end to end: LED!</a:t>
            </a:r>
            <a:endParaRPr lang="en-US" sz="1250" dirty="0"/>
          </a:p>
        </p:txBody>
      </p:sp>
      <p:sp>
        <p:nvSpPr>
          <p:cNvPr id="5" name="code background 104"/>
          <p:cNvSpPr/>
          <p:nvPr/>
        </p:nvSpPr>
        <p:spPr>
          <a:xfrm>
            <a:off x="5394960" y="1280160"/>
            <a:ext cx="329184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de 105"/>
          <p:cNvSpPr txBox="1"/>
          <p:nvPr/>
        </p:nvSpPr>
        <p:spPr>
          <a:xfrm>
            <a:off x="5522976" y="1353312"/>
            <a:ext cx="303580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entry_led_store: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.word entry_immediate ; link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.byte 4               ; len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.byte 76, 69, 68, 33  ; "LED!"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do_led_store: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r1, -3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  r2, 0(r1)   ; save 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pop r0          ;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lcu r2,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r0, r2      ; low bit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  r2, -65536  ; 0xFF0000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  r0, 0(r2)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lw  r2, 0(r1)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r1,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lw  r0, 0(r2)   ; NEXT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r2,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jmp (r0)</a:t>
            </a:r>
            <a:endParaRPr lang="en-US" sz="950" dirty="0"/>
          </a:p>
        </p:txBody>
      </p:sp>
      <p:sp>
        <p:nvSpPr>
          <p:cNvPr id="7" name="led note"/>
          <p:cNvSpPr txBox="1"/>
          <p:nvPr/>
        </p:nvSpPr>
        <p:spPr>
          <a:xfrm>
            <a:off x="539496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Note the saved IP: even a leaf primitive spills r2 because pop and la need a second register.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same core inside SWTOS: Forth as a pane</a:t>
            </a:r>
            <a:endParaRPr lang="en-US" sz="2600" dirty="0"/>
          </a:p>
        </p:txBody>
      </p:sp>
      <p:sp>
        <p:nvSpPr>
          <p:cNvPr id="3" name="layer caption"/>
          <p:cNvSpPr txBox="1"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One core, two layers</a:t>
            </a:r>
            <a:endParaRPr lang="en-US" sz="1250" dirty="0"/>
          </a:p>
        </p:txBody>
      </p:sp>
      <p:sp>
        <p:nvSpPr>
          <p:cNvPr id="4" name="flow box 106"/>
          <p:cNvSpPr/>
          <p:nvPr/>
        </p:nvSpPr>
        <p:spPr>
          <a:xfrm>
            <a:off x="457200" y="128016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flow text 107"/>
          <p:cNvSpPr txBox="1"/>
          <p:nvPr/>
        </p:nvSpPr>
        <p:spPr>
          <a:xfrm>
            <a:off x="512064" y="128016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forth-core.s   dictionary, inner + outer interpreter, every primitive; never touches hardware</a:t>
            </a:r>
            <a:endParaRPr lang="en-US" sz="1000" dirty="0"/>
          </a:p>
        </p:txBody>
      </p:sp>
      <p:sp>
        <p:nvSpPr>
          <p:cNvPr id="6" name="arrow 108"/>
          <p:cNvSpPr/>
          <p:nvPr/>
        </p:nvSpPr>
        <p:spPr>
          <a:xfrm>
            <a:off x="1234440" y="1901952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arrow 109"/>
          <p:cNvSpPr/>
          <p:nvPr/>
        </p:nvSpPr>
        <p:spPr>
          <a:xfrm>
            <a:off x="3063240" y="1901952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flow box 110"/>
          <p:cNvSpPr/>
          <p:nvPr/>
        </p:nvSpPr>
        <p:spPr>
          <a:xfrm>
            <a:off x="457200" y="2240280"/>
            <a:ext cx="187452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text 111"/>
          <p:cNvSpPr txBox="1"/>
          <p:nvPr/>
        </p:nvSpPr>
        <p:spPr>
          <a:xfrm>
            <a:off x="512064" y="2240280"/>
            <a:ext cx="1764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forth-uart.s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UART at 0xFF0100, return stack at 0x0F0000, BYE halts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= forth.s, tab 1 and the board</a:t>
            </a:r>
            <a:endParaRPr lang="en-US" sz="950" dirty="0"/>
          </a:p>
        </p:txBody>
      </p:sp>
      <p:sp>
        <p:nvSpPr>
          <p:cNvPr id="10" name="flow box 112"/>
          <p:cNvSpPr/>
          <p:nvPr/>
        </p:nvSpPr>
        <p:spPr>
          <a:xfrm>
            <a:off x="2514600" y="2240280"/>
            <a:ext cx="187452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text 113"/>
          <p:cNvSpPr txBox="1"/>
          <p:nvPr/>
        </p:nvSpPr>
        <p:spPr>
          <a:xfrm>
            <a:off x="2569464" y="2240280"/>
            <a:ext cx="1764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forth-swtos.s (sw-tos)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I/O via kernel services into its own pane; 8 KB dictionary and 1 KB return stack in the module; BYE or Escape exits the process</a:t>
            </a:r>
            <a:endParaRPr lang="en-US" sz="950" dirty="0"/>
          </a:p>
        </p:txBody>
      </p:sp>
      <p:sp>
        <p:nvSpPr>
          <p:cNvPr id="12" name="code background 114"/>
          <p:cNvSpPr/>
          <p:nvPr/>
        </p:nvSpPr>
        <p:spPr>
          <a:xfrm>
            <a:off x="457200" y="3474720"/>
            <a:ext cx="393192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code 115"/>
          <p:cNvSpPr txBox="1"/>
          <p:nvPr/>
        </p:nvSpPr>
        <p:spPr>
          <a:xfrm>
            <a:off x="585216" y="3547872"/>
            <a:ext cx="36758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the contract, end of forth-core.s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layer_init  io_emit  io_key  io_bye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io_branch  io_zbranch  dict_start  layer_latest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sw-tos vendors the core with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scripts/vendor-forth-core.sh --check</a:t>
            </a:r>
            <a:endParaRPr lang="en-US" sz="950" dirty="0"/>
          </a:p>
        </p:txBody>
      </p:sp>
      <p:sp>
        <p:nvSpPr>
          <p:cNvPr id="14" name="bullets 116"/>
          <p:cNvSpPr txBox="1"/>
          <p:nvPr/>
        </p:nvSpPr>
        <p:spPr>
          <a:xfrm>
            <a:off x="4754880" y="914400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Live: swtos.softwarewrighter.com/forth/ boots SWTOS's forth profile in the browser. At the shell type bg forth; the REPL opens in its own pane.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Four layer words: MENU lists the 18 vendored examples, n LOAD runs one as if typed, n LIST prints it, RESET forgets everything. Words are case-insensitive.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It is a resident program like any other: its data stack is the process stack (256 cells), and a Forth loop that never yields (example 21, HOG) is preempted by the clock and can be killed from the shell. On the bare kernel that loop needs a reset.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Nothing in the core changed to make this work. The split into forth-core.s plus a layer was done so SWTOS could own I/O, stacks and exit while the Forth stays byte-identical.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Same source commit as tab 1, so the three web tabs and the SWTOS pane run the same Forth; only the host differs.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forth-in-forth: Forth extends itself (tab 2)</a:t>
            </a:r>
            <a:endParaRPr lang="en-US" sz="2600" dirty="0"/>
          </a:p>
        </p:txBody>
      </p:sp>
      <p:sp>
        <p:nvSpPr>
          <p:cNvPr id="3" name="flow box 117"/>
          <p:cNvSpPr/>
          <p:nvPr/>
        </p:nvSpPr>
        <p:spPr>
          <a:xfrm>
            <a:off x="457200" y="914400"/>
            <a:ext cx="18745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flow text 118"/>
          <p:cNvSpPr txBox="1"/>
          <p:nvPr/>
        </p:nvSpPr>
        <p:spPr>
          <a:xfrm>
            <a:off x="512064" y="9144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minimal.fth</a:t>
            </a:r>
            <a:endParaRPr lang="en-US" sz="1150" dirty="0"/>
          </a:p>
        </p:txBody>
      </p:sp>
      <p:sp>
        <p:nvSpPr>
          <p:cNvPr id="5" name="tier words 119"/>
          <p:cNvSpPr txBox="1"/>
          <p:nvPr/>
        </p:nvSpPr>
        <p:spPr>
          <a:xfrm>
            <a:off x="457200" y="1371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IF THEN ELSE BEGIN UNTIL AGAIN WHILE REPEAT, = 0=, \ and (, :NONAME</a:t>
            </a:r>
            <a:endParaRPr lang="en-US" sz="1000" dirty="0"/>
          </a:p>
        </p:txBody>
      </p:sp>
      <p:sp>
        <p:nvSpPr>
          <p:cNvPr id="6" name="arrow 120"/>
          <p:cNvSpPr/>
          <p:nvPr/>
        </p:nvSpPr>
        <p:spPr>
          <a:xfrm>
            <a:off x="2359152" y="978408"/>
            <a:ext cx="17373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 box 121"/>
          <p:cNvSpPr/>
          <p:nvPr/>
        </p:nvSpPr>
        <p:spPr>
          <a:xfrm>
            <a:off x="2560320" y="914400"/>
            <a:ext cx="18745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flow text 122"/>
          <p:cNvSpPr txBox="1"/>
          <p:nvPr/>
        </p:nvSpPr>
        <p:spPr>
          <a:xfrm>
            <a:off x="2615184" y="9144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lowlevel.fth</a:t>
            </a:r>
            <a:endParaRPr lang="en-US" sz="1150" dirty="0"/>
          </a:p>
        </p:txBody>
      </p:sp>
      <p:sp>
        <p:nvSpPr>
          <p:cNvPr id="9" name="tier words 123"/>
          <p:cNvSpPr txBox="1"/>
          <p:nvPr/>
        </p:nvSpPr>
        <p:spPr>
          <a:xfrm>
            <a:off x="2560320" y="1371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NIP TUCK ROT PICK 2DUP 2SWAP 1+ 1- NEGATE ABS / MOD, CONSTANT VARIABLE, DO ?DO LOOP</a:t>
            </a:r>
            <a:endParaRPr lang="en-US" sz="1000" dirty="0"/>
          </a:p>
        </p:txBody>
      </p:sp>
      <p:sp>
        <p:nvSpPr>
          <p:cNvPr id="10" name="arrow 124"/>
          <p:cNvSpPr/>
          <p:nvPr/>
        </p:nvSpPr>
        <p:spPr>
          <a:xfrm>
            <a:off x="4462272" y="978408"/>
            <a:ext cx="17373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box 125"/>
          <p:cNvSpPr/>
          <p:nvPr/>
        </p:nvSpPr>
        <p:spPr>
          <a:xfrm>
            <a:off x="4663440" y="914400"/>
            <a:ext cx="18745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 text 126"/>
          <p:cNvSpPr txBox="1"/>
          <p:nvPr/>
        </p:nvSpPr>
        <p:spPr>
          <a:xfrm>
            <a:off x="4718304" y="9144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midlevel.fth</a:t>
            </a:r>
            <a:endParaRPr lang="en-US" sz="1150" dirty="0"/>
          </a:p>
        </p:txBody>
      </p:sp>
      <p:sp>
        <p:nvSpPr>
          <p:cNvPr id="13" name="tier words 127"/>
          <p:cNvSpPr txBox="1"/>
          <p:nvPr/>
        </p:nvSpPr>
        <p:spPr>
          <a:xfrm>
            <a:off x="4663440" y="1371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CR SPACE HEX DECIMAL and the number printer .</a:t>
            </a:r>
            <a:endParaRPr lang="en-US" sz="1000" dirty="0"/>
          </a:p>
        </p:txBody>
      </p:sp>
      <p:sp>
        <p:nvSpPr>
          <p:cNvPr id="14" name="arrow 128"/>
          <p:cNvSpPr/>
          <p:nvPr/>
        </p:nvSpPr>
        <p:spPr>
          <a:xfrm>
            <a:off x="6565392" y="978408"/>
            <a:ext cx="17373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 box 129"/>
          <p:cNvSpPr/>
          <p:nvPr/>
        </p:nvSpPr>
        <p:spPr>
          <a:xfrm>
            <a:off x="6766560" y="914400"/>
            <a:ext cx="18745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flow text 130"/>
          <p:cNvSpPr txBox="1"/>
          <p:nvPr/>
        </p:nvSpPr>
        <p:spPr>
          <a:xfrm>
            <a:off x="6821424" y="9144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highlevel.fth</a:t>
            </a:r>
            <a:endParaRPr lang="en-US" sz="1150" dirty="0"/>
          </a:p>
        </p:txBody>
      </p:sp>
      <p:sp>
        <p:nvSpPr>
          <p:cNvPr id="17" name="tier words 131"/>
          <p:cNvSpPr txBox="1"/>
          <p:nvPr/>
        </p:nvSpPr>
        <p:spPr>
          <a:xfrm>
            <a:off x="6766560" y="1371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DEPTH .S ' WORDS VER &gt;NAME SEE SEE-CFA DUMP-ALL</a:t>
            </a:r>
            <a:endParaRPr lang="en-US" sz="1000" dirty="0"/>
          </a:p>
        </p:txBody>
      </p:sp>
      <p:sp>
        <p:nvSpPr>
          <p:cNvPr id="18" name="tier note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Each tier uses only primitives and the tiers before it. The kernel streams them in over UART at boot, so WORDS shows them as ordinary colon definitions.</a:t>
            </a:r>
            <a:endParaRPr lang="en-US" sz="1100" dirty="0"/>
          </a:p>
        </p:txBody>
      </p:sp>
      <p:sp>
        <p:nvSpPr>
          <p:cNvPr id="19" name="cf caption"/>
          <p:cNvSpPr txBox="1"/>
          <p:nvPr/>
        </p:nvSpPr>
        <p:spPr>
          <a:xfrm>
            <a:off x="45720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Control flow is four lines of Forth</a:t>
            </a:r>
            <a:endParaRPr lang="en-US" sz="1250" dirty="0"/>
          </a:p>
        </p:txBody>
      </p:sp>
      <p:sp>
        <p:nvSpPr>
          <p:cNvPr id="20" name="code background 132"/>
          <p:cNvSpPr/>
          <p:nvPr/>
        </p:nvSpPr>
        <p:spPr>
          <a:xfrm>
            <a:off x="457200" y="2990088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code 133"/>
          <p:cNvSpPr txBox="1"/>
          <p:nvPr/>
        </p:nvSpPr>
        <p:spPr>
          <a:xfrm>
            <a:off x="585216" y="3063240"/>
            <a:ext cx="3767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IF    ['] 0BRANCH , HERE @ 0 , ; IMMEDIATE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THEN  HERE @ OVER - SWAP ! ; IMMEDIATE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BEGIN HERE @ ; IMMEDIATE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UNTIL ['] 0BRANCH , HERE @ - , ; IMMEDIATE</a:t>
            </a:r>
            <a:endParaRPr lang="en-US" sz="950" dirty="0"/>
          </a:p>
        </p:txBody>
      </p:sp>
      <p:sp>
        <p:nvSpPr>
          <p:cNvPr id="22" name="bullets 134"/>
          <p:cNvSpPr txBox="1"/>
          <p:nvPr/>
        </p:nvSpPr>
        <p:spPr>
          <a:xfrm>
            <a:off x="4754880" y="26974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Three new primitives made it possible: ['] (compile a named CFA), EOL! (let a Forth \ end the line) and SP@ (for DEPTH and .S).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18 words left assembly; 19 new ones appeared. Kernel 2,983 lines to 2,239 at the time, binary 28% smaller.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SEE decompiles any colon word, including IF itself.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Cost: compile-time words run as threaded code. Fibonacci needs ~120 M instructions instead of 40 M; runtime of compiled code is unchanged.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forth-on-forthish: a Forth-shaped substrate (tab 3)</a:t>
            </a:r>
            <a:endParaRPr lang="en-US" sz="2600" dirty="0"/>
          </a:p>
        </p:txBody>
      </p:sp>
      <p:graphicFrame>
        <p:nvGraphicFramePr>
          <p:cNvPr id="14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4297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stays in assembly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NEXT, DOCOL, EXIT, LIT, BRANCH, 0BRANCH, EXECUTE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 !  C@  C!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and NAND (AND, OR, XOR, INVERT, NEGATE, - are derived)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pointers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SP@  SP!  RP@  RP!  (DUP, SWAP, OVER become memory ops)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 EMIT  LED!  SW?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 LATEST STATE BASE, ,DOCOL (emits the 6-byte CFA template)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QUIT-VECTOR: the CFA of the Forth QUIT once highlevel.fth has loaded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ode background 136"/>
          <p:cNvSpPr/>
          <p:nvPr/>
        </p:nvSpPr>
        <p:spPr>
          <a:xfrm>
            <a:off x="5029200" y="914400"/>
            <a:ext cx="365760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 137"/>
          <p:cNvSpPr txBox="1"/>
          <p:nvPr/>
        </p:nvSpPr>
        <p:spPr>
          <a:xfrm>
            <a:off x="5157216" y="987552"/>
            <a:ext cx="34015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DUP     SP@ @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DROP    SP@ 3 + SP!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INVERT  DUP NAND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AND     NAND INVERT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-       NEGATE +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:  CREATE ,DOCOL  ...  ]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;  ['] EXIT ,  ...  0 STATE ! ; IMMEDIATE</a:t>
            </a:r>
            <a:endParaRPr lang="en-US" sz="950" dirty="0"/>
          </a:p>
        </p:txBody>
      </p:sp>
      <p:sp>
        <p:nvSpPr>
          <p:cNvPr id="6" name="bullets 138"/>
          <p:cNvSpPr txBox="1"/>
          <p:nvPr/>
        </p:nvSpPr>
        <p:spPr>
          <a:xfrm>
            <a:off x="5029200" y="24688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Even : and ; are colon definitions. The only help is ,DOCOL, which copies the COR24 opcode bytes Forth cannot encode itself.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WORD, FIND, NUMBER, INTERPRET and QUIT are Forth. After the last core line installs QUIT-VECTOR, every prompt line runs through Forth code.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Honest number: kernel.s is still 2,659 lines. The asm bootstrap must compile runtime.fth before Forth : exists, so the asm WORD / FIND / NUMBER bodies stay alive. Deleting them needs a precompiled image: that is phase 4.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Cost: Fibonacci needs an 800 M instruction budget; stack ops via SP@ are several times slower than push / pop.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forth-from-forth: the kernel as a build artifact (WIP)</a:t>
            </a:r>
            <a:endParaRPr lang="en-US" sz="2600" dirty="0"/>
          </a:p>
        </p:txBody>
      </p:sp>
      <p:sp>
        <p:nvSpPr>
          <p:cNvPr id="3" name="flow box 139"/>
          <p:cNvSpPr/>
          <p:nvPr/>
        </p:nvSpPr>
        <p:spPr>
          <a:xfrm>
            <a:off x="457200" y="960120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ow text 140"/>
          <p:cNvSpPr txBox="1"/>
          <p:nvPr/>
        </p:nvSpPr>
        <p:spPr>
          <a:xfrm>
            <a:off x="512064" y="9601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xcomp.fth + prims.fth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(the compiler, in Forth)</a:t>
            </a:r>
            <a:endParaRPr lang="en-US" sz="950" dirty="0"/>
          </a:p>
        </p:txBody>
      </p:sp>
      <p:sp>
        <p:nvSpPr>
          <p:cNvPr id="5" name="arrow 141"/>
          <p:cNvSpPr/>
          <p:nvPr/>
        </p:nvSpPr>
        <p:spPr>
          <a:xfrm>
            <a:off x="2240280" y="1106424"/>
            <a:ext cx="22860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low box 142"/>
          <p:cNvSpPr/>
          <p:nvPr/>
        </p:nvSpPr>
        <p:spPr>
          <a:xfrm>
            <a:off x="2514600" y="960120"/>
            <a:ext cx="16002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low text 143"/>
          <p:cNvSpPr txBox="1"/>
          <p:nvPr/>
        </p:nvSpPr>
        <p:spPr>
          <a:xfrm>
            <a:off x="2569464" y="96012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core/*.fth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read as source</a:t>
            </a:r>
            <a:endParaRPr lang="en-US" sz="950" dirty="0"/>
          </a:p>
        </p:txBody>
      </p:sp>
      <p:sp>
        <p:nvSpPr>
          <p:cNvPr id="8" name="arrow 144"/>
          <p:cNvSpPr/>
          <p:nvPr/>
        </p:nvSpPr>
        <p:spPr>
          <a:xfrm>
            <a:off x="4160520" y="1106424"/>
            <a:ext cx="22860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 box 145"/>
          <p:cNvSpPr/>
          <p:nvPr/>
        </p:nvSpPr>
        <p:spPr>
          <a:xfrm>
            <a:off x="4434840" y="960120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low text 146"/>
          <p:cNvSpPr txBox="1"/>
          <p:nvPr/>
        </p:nvSpPr>
        <p:spPr>
          <a:xfrm>
            <a:off x="4489704" y="9601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runs on the phase-3 REPL,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asm text out the UART</a:t>
            </a:r>
            <a:endParaRPr lang="en-US" sz="950" dirty="0"/>
          </a:p>
        </p:txBody>
      </p:sp>
      <p:sp>
        <p:nvSpPr>
          <p:cNvPr id="11" name="arrow 147"/>
          <p:cNvSpPr/>
          <p:nvPr/>
        </p:nvSpPr>
        <p:spPr>
          <a:xfrm>
            <a:off x="6217920" y="1106424"/>
            <a:ext cx="22860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low box 148"/>
          <p:cNvSpPr/>
          <p:nvPr/>
        </p:nvSpPr>
        <p:spPr>
          <a:xfrm>
            <a:off x="6492240" y="96012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flow text 149"/>
          <p:cNvSpPr txBox="1"/>
          <p:nvPr/>
        </p:nvSpPr>
        <p:spPr>
          <a:xfrm>
            <a:off x="6547104" y="96012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kernel.s → cor24-asm → image boot,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no UART bootstrap</a:t>
            </a:r>
            <a:endParaRPr lang="en-US" sz="950" dirty="0"/>
          </a:p>
        </p:txBody>
      </p:sp>
      <p:sp>
        <p:nvSpPr>
          <p:cNvPr id="14" name="code background 150"/>
          <p:cNvSpPr/>
          <p:nvPr/>
        </p:nvSpPr>
        <p:spPr>
          <a:xfrm>
            <a:off x="457200" y="169164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code 151"/>
          <p:cNvSpPr txBox="1"/>
          <p:nvPr/>
        </p:nvSpPr>
        <p:spPr>
          <a:xfrm>
            <a:off x="585216" y="1764792"/>
            <a:ext cx="37673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XC-COMPILE-TEST : FOO SP@ @ 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fff_e_1: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.word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.byte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.byte 70   ; F O O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fff_c_1: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.word do_docol_far   ; far CFA prelude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.word do_sp_fetch  .word do_fetch  .word do_exit</a:t>
            </a:r>
            <a:endParaRPr lang="en-US" sz="900" dirty="0"/>
          </a:p>
        </p:txBody>
      </p:sp>
      <p:sp>
        <p:nvSpPr>
          <p:cNvPr id="16" name="fff status caption"/>
          <p:cNvSpPr txBox="1"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Status on 2026-10-23</a:t>
            </a:r>
            <a:endParaRPr lang="en-US" sz="1250" dirty="0"/>
          </a:p>
        </p:txBody>
      </p:sp>
      <p:sp>
        <p:nvSpPr>
          <p:cNvPr id="17" name="bullets 152"/>
          <p:cNvSpPr txBox="1"/>
          <p:nvPr/>
        </p:nvSpPr>
        <p:spPr>
          <a:xfrm>
            <a:off x="4754880" y="1984248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Works: the compiler emits the whole runtime.fth tier (DUP through :, ;) and a self-test image runs that dictionary.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Was stuck since April: compiling a definition from source died right after the begin marker. Found today: the phase-3 Forth NUMBER read its sign byte from the wrong cell, so every -1 in the compiler became a ? and a missing stack item. With that fixed, : FOO SP@ @ ; compiles from source (left).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Not yet: the other four tiers, the primitive declarations, an _start that boots from the image, deleting the asm bootstrap. kernel.s is still a copy of forth-on-forthish.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Tracked as saga phase-4-tab-4: eight steps ending in a fourth web tab, a blog brief and this deck updated.</a:t>
            </a:r>
            <a:endParaRPr lang="en-US" sz="1000" dirty="0"/>
          </a:p>
        </p:txBody>
      </p:sp>
      <p:sp>
        <p:nvSpPr>
          <p:cNvPr id="18" name="fff why"/>
          <p:cNvSpPr txBox="1"/>
          <p:nvPr/>
        </p:nvSpPr>
        <p:spPr>
          <a:xfrm>
            <a:off x="457200" y="32004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Why bother: no hand-written assembly left; retargeting to another CPU means a new asm-emit module, not a new kernel. The April blog posts (Rabbit-hole parts 2 to 5) planned this: FIND's hash goes away, forward references become linker-style fixups.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Boot: one kernel binary, then a stream of text</a:t>
            </a:r>
            <a:endParaRPr lang="en-US" sz="2600" dirty="0"/>
          </a:p>
        </p:txBody>
      </p:sp>
      <p:sp>
        <p:nvSpPr>
          <p:cNvPr id="3" name="flow box 153"/>
          <p:cNvSpPr/>
          <p:nvPr/>
        </p:nvSpPr>
        <p:spPr>
          <a:xfrm>
            <a:off x="457200" y="1051560"/>
            <a:ext cx="141732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flow text 154"/>
          <p:cNvSpPr txBox="1"/>
          <p:nvPr/>
        </p:nvSpPr>
        <p:spPr>
          <a:xfrm>
            <a:off x="512064" y="105156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cor24-asm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kernel.s → .lgo</a:t>
            </a:r>
            <a:endParaRPr lang="en-US" sz="1050" dirty="0"/>
          </a:p>
        </p:txBody>
      </p:sp>
      <p:sp>
        <p:nvSpPr>
          <p:cNvPr id="5" name="arrow 155"/>
          <p:cNvSpPr/>
          <p:nvPr/>
        </p:nvSpPr>
        <p:spPr>
          <a:xfrm>
            <a:off x="1920240" y="12344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low box 156"/>
          <p:cNvSpPr/>
          <p:nvPr/>
        </p:nvSpPr>
        <p:spPr>
          <a:xfrm>
            <a:off x="2240280" y="1051560"/>
            <a:ext cx="141732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low text 157"/>
          <p:cNvSpPr txBox="1"/>
          <p:nvPr/>
        </p:nvSpPr>
        <p:spPr>
          <a:xfrm>
            <a:off x="2295144" y="105156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CPU resets,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_start → QUIT</a:t>
            </a:r>
            <a:endParaRPr lang="en-US" sz="1050" dirty="0"/>
          </a:p>
        </p:txBody>
      </p:sp>
      <p:sp>
        <p:nvSpPr>
          <p:cNvPr id="8" name="arrow 158"/>
          <p:cNvSpPr/>
          <p:nvPr/>
        </p:nvSpPr>
        <p:spPr>
          <a:xfrm>
            <a:off x="3703320" y="12344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 box 159"/>
          <p:cNvSpPr/>
          <p:nvPr/>
        </p:nvSpPr>
        <p:spPr>
          <a:xfrm>
            <a:off x="4023360" y="1051560"/>
            <a:ext cx="16002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low text 160"/>
          <p:cNvSpPr txBox="1"/>
          <p:nvPr/>
        </p:nvSpPr>
        <p:spPr>
          <a:xfrm>
            <a:off x="4078224" y="1051560"/>
            <a:ext cx="1490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core/*.fth tiers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arrive over UART</a:t>
            </a:r>
            <a:endParaRPr lang="en-US" sz="1050" dirty="0"/>
          </a:p>
        </p:txBody>
      </p:sp>
      <p:sp>
        <p:nvSpPr>
          <p:cNvPr id="11" name="arrow 161"/>
          <p:cNvSpPr/>
          <p:nvPr/>
        </p:nvSpPr>
        <p:spPr>
          <a:xfrm>
            <a:off x="5669280" y="12344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low box 162"/>
          <p:cNvSpPr/>
          <p:nvPr/>
        </p:nvSpPr>
        <p:spPr>
          <a:xfrm>
            <a:off x="5989320" y="105156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flow text 163"/>
          <p:cNvSpPr txBox="1"/>
          <p:nvPr/>
        </p:nvSpPr>
        <p:spPr>
          <a:xfrm>
            <a:off x="6044184" y="10515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“ok” prompt</a:t>
            </a:r>
            <a:endParaRPr lang="en-US" sz="1100" dirty="0"/>
          </a:p>
        </p:txBody>
      </p:sp>
      <p:sp>
        <p:nvSpPr>
          <p:cNvPr id="14" name="arrow 164"/>
          <p:cNvSpPr/>
          <p:nvPr/>
        </p:nvSpPr>
        <p:spPr>
          <a:xfrm>
            <a:off x="7223760" y="12344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 box 165"/>
          <p:cNvSpPr/>
          <p:nvPr/>
        </p:nvSpPr>
        <p:spPr>
          <a:xfrm>
            <a:off x="7543800" y="1051560"/>
            <a:ext cx="114300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flow text 166"/>
          <p:cNvSpPr txBox="1"/>
          <p:nvPr/>
        </p:nvSpPr>
        <p:spPr>
          <a:xfrm>
            <a:off x="7598664" y="1051560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demo, upload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or typed line</a:t>
            </a:r>
            <a:endParaRPr lang="en-US" sz="1050" dirty="0"/>
          </a:p>
        </p:txBody>
      </p:sp>
      <p:sp>
        <p:nvSpPr>
          <p:cNvPr id="17" name="boot note"/>
          <p:cNvSpPr txBox="1"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Tab 1 sends no core files and is interactive at once. Tab 2 streams four tiers, tab 3 five. The same bytes work on the CLI:</a:t>
            </a:r>
            <a:endParaRPr lang="en-US" sz="1150" dirty="0"/>
          </a:p>
        </p:txBody>
      </p:sp>
      <p:sp>
        <p:nvSpPr>
          <p:cNvPr id="18" name="code background 167"/>
          <p:cNvSpPr/>
          <p:nvPr/>
        </p:nvSpPr>
        <p:spPr>
          <a:xfrm>
            <a:off x="457200" y="2212848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code 168"/>
          <p:cNvSpPr txBox="1"/>
          <p:nvPr/>
        </p:nvSpPr>
        <p:spPr>
          <a:xfrm>
            <a:off x="585216" y="2286000"/>
            <a:ext cx="7973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cor24-asm forth-on-forthish/kernel.s -o kernel.lgo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cor24-emu --lgo kernel.lgo --speed 0 -n 800000000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-u "$(cat forth-on-forthish/core/*.fth examples/14-fib.fth)"</a:t>
            </a:r>
            <a:endParaRPr lang="en-US" sz="1050" dirty="0"/>
          </a:p>
        </p:txBody>
      </p:sp>
      <p:sp>
        <p:nvSpPr>
          <p:cNvPr id="20" name="bullets 169"/>
          <p:cNvSpPr txBox="1"/>
          <p:nvPr/>
        </p:nvSpPr>
        <p:spPr>
          <a:xfrm>
            <a:off x="457200" y="30632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In the browser a pump hands bytes to the UART only while the PC sits in one of the kernel's known poll loops, in sub-batches of 2 k instructions, then lets compile work run in 50 k batches.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Those poll-loop labels are the one thing a new kernel must register; a headless test boots all three kernels through the pump to catch a missing one.</a:t>
            </a:r>
            <a:endParaRPr lang="en-US" sz="1050" dirty="0"/>
          </a:p>
        </p:txBody>
      </p:sp>
      <p:graphicFrame>
        <p:nvGraphicFramePr>
          <p:cNvPr id="16" name="table 1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06324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Fibonacci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forth.s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forth-in-forth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UNTIL compile as threaded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forth-on-forthish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 M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/ FIND / NUMBER and stack ops in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Trade-offs between the three</a:t>
            </a:r>
            <a:endParaRPr lang="en-US" sz="2600" dirty="0"/>
          </a:p>
        </p:txBody>
      </p:sp>
      <p:graphicFrame>
        <p:nvGraphicFramePr>
          <p:cNvPr id="17" name="table 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19456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forth.s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forth-in-forth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forth-on-forthish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fastest; compile and run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same; compile ~3× slower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through Forth; ~20× the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to maintain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~3,500 lines, every 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~2,700 lines, 50 primitives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~2,650 lines, but only ~22 matter after boot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SEE can show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IF, ., WORDS as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:, WORD, FIND, INTERPRET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Retarget to a new 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everything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50 primitives + bootstrap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~22 primitives + bootstrap; outer interpreter is portable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vocabulary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FORGET, :NONAME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SEE, DUMP-ALL, PICK, ROT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NAND, SP!, RP@, RP!, WORD-BUFFER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order matters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chicken-and-egg: asm loop must compile Forth : 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board, debugging, golden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how Forth defines itself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porting; seeing the whole interpreter as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demos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dropdown in every tab, backed by sw-cor24-forth/examples/*.fth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Language demos: what each one teaches</a:t>
            </a:r>
            <a:endParaRPr lang="en-US" sz="2600" dirty="0"/>
          </a:p>
        </p:txBody>
      </p:sp>
      <p:graphicFrame>
        <p:nvGraphicFramePr>
          <p:cNvPr id="19" name="table 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40080"/>
                <a:gridCol w="4937760"/>
                <a:gridCol w="731520"/>
              </a:tblGrid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.S, arithmetic, HEX, WORDS: interpret mode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 Definitions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TWO, SQUARE, CUBE: compile mode and nesting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 Words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NEGATE, DOUBLE, TRIPLE, 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 Stars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 patterns from composed words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 line comments and ( ) inline comments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&amp; Modulo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/MOD, then / and MOD built from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THEN  /  IF ELSE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execution inside a definition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UNTIL counting up and 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FizzBuzz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IF ELSE inside BEGIN UNTIL, 1 to 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Fibonacci (manual / looped)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its own NIP TUCK 1+ 1-; FIB(0)..FIB(10) or ..FIB(20)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AGAIN  /  WHILE REPEAT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AGAIN with IF EXIT; test-in-middle TRIANGLE sum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 /  VARIABLE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values; a COUNTER cell with BUMP / RESET / SHOW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?DO I UNLOOP, factorial, early EXIT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(all words)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SQUARE and CUBE, then DUMP-ALL decompiles every word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kernel word; stack empty at the end; intentional ? ? errors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xtra examples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Also in examples/, upload as .fth: 20-redefine (shadowing, FORGET), 21-hog (never yields), 22-factorial (recursion), 23-bases.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Hardware demos: S2 in, D2 out</a:t>
            </a:r>
            <a:endParaRPr lang="en-US" sz="2600" dirty="0"/>
          </a:p>
        </p:txBody>
      </p:sp>
      <p:sp>
        <p:nvSpPr>
          <p:cNvPr id="3" name="board panel"/>
          <p:cNvSpPr/>
          <p:nvPr/>
        </p:nvSpPr>
        <p:spPr>
          <a:xfrm>
            <a:off x="457200" y="914400"/>
            <a:ext cx="2377440" cy="2103120"/>
          </a:xfrm>
          <a:prstGeom prst="roundRect">
            <a:avLst>
              <a:gd name="adj" fmla="val 43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witch S2"/>
          <p:cNvSpPr/>
          <p:nvPr/>
        </p:nvSpPr>
        <p:spPr>
          <a:xfrm>
            <a:off x="731520" y="1188720"/>
            <a:ext cx="82296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switch label"/>
          <p:cNvSpPr txBox="1"/>
          <p:nvPr/>
        </p:nvSpPr>
        <p:spPr>
          <a:xfrm>
            <a:off x="731520" y="1188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S2</a:t>
            </a:r>
            <a:endParaRPr lang="en-US" sz="1200" dirty="0"/>
          </a:p>
        </p:txBody>
      </p:sp>
      <p:sp>
        <p:nvSpPr>
          <p:cNvPr id="6" name="LED D2"/>
          <p:cNvSpPr/>
          <p:nvPr/>
        </p:nvSpPr>
        <p:spPr>
          <a:xfrm>
            <a:off x="1920240" y="11887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led label"/>
          <p:cNvSpPr txBox="1"/>
          <p:nvPr/>
        </p:nvSpPr>
        <p:spPr>
          <a:xfrm>
            <a:off x="1828800" y="1691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D2</a:t>
            </a:r>
            <a:endParaRPr lang="en-US" sz="1100" dirty="0"/>
          </a:p>
        </p:txBody>
      </p:sp>
      <p:sp>
        <p:nvSpPr>
          <p:cNvPr id="8" name="panel text"/>
          <p:cNvSpPr txBox="1"/>
          <p:nvPr/>
        </p:nvSpPr>
        <p:spPr>
          <a:xfrm>
            <a:off x="640080" y="2057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0xFF0000 bit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 0 = pressed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0 = LED on</a:t>
            </a:r>
            <a:endParaRPr lang="en-US" sz="1000" dirty="0"/>
          </a:p>
        </p:txBody>
      </p:sp>
      <p:sp>
        <p:nvSpPr>
          <p:cNvPr id="9" name="card 173"/>
          <p:cNvSpPr/>
          <p:nvPr/>
        </p:nvSpPr>
        <p:spPr>
          <a:xfrm>
            <a:off x="3108960" y="914400"/>
            <a:ext cx="26974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174"/>
          <p:cNvSpPr/>
          <p:nvPr/>
        </p:nvSpPr>
        <p:spPr>
          <a:xfrm>
            <a:off x="3255264" y="105156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glyph 175"/>
          <p:cNvSpPr txBox="1"/>
          <p:nvPr/>
        </p:nvSpPr>
        <p:spPr>
          <a:xfrm>
            <a:off x="325526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card head 176"/>
          <p:cNvSpPr txBox="1"/>
          <p:nvPr/>
        </p:nvSpPr>
        <p:spPr>
          <a:xfrm>
            <a:off x="369417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LED Control (02)</a:t>
            </a:r>
            <a:endParaRPr lang="en-US" sz="1400" dirty="0"/>
          </a:p>
        </p:txBody>
      </p:sp>
      <p:sp>
        <p:nvSpPr>
          <p:cNvPr id="13" name="card body 177"/>
          <p:cNvSpPr txBox="1"/>
          <p:nvPr/>
        </p:nvSpPr>
        <p:spPr>
          <a:xfrm>
            <a:off x="3255264" y="1499616"/>
            <a:ext cx="2404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: ON  1 LED! ;   : OFF 0 LED! 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Then ON, OFF, BLINK. Watch the red dot. Because the pin is active-low, 0 LED! is the one that lights it.</a:t>
            </a:r>
            <a:endParaRPr lang="en-US" sz="1050" dirty="0"/>
          </a:p>
        </p:txBody>
      </p:sp>
      <p:sp>
        <p:nvSpPr>
          <p:cNvPr id="14" name="card 178"/>
          <p:cNvSpPr/>
          <p:nvPr/>
        </p:nvSpPr>
        <p:spPr>
          <a:xfrm>
            <a:off x="5989320" y="914400"/>
            <a:ext cx="26974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179"/>
          <p:cNvSpPr/>
          <p:nvPr/>
        </p:nvSpPr>
        <p:spPr>
          <a:xfrm>
            <a:off x="6135624" y="10515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glyph 180"/>
          <p:cNvSpPr txBox="1"/>
          <p:nvPr/>
        </p:nvSpPr>
        <p:spPr>
          <a:xfrm>
            <a:off x="613562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card head 181"/>
          <p:cNvSpPr txBox="1"/>
          <p:nvPr/>
        </p:nvSpPr>
        <p:spPr>
          <a:xfrm>
            <a:off x="657453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→ LED (05)</a:t>
            </a:r>
            <a:endParaRPr lang="en-US" sz="1400" dirty="0"/>
          </a:p>
        </p:txBody>
      </p:sp>
      <p:sp>
        <p:nvSpPr>
          <p:cNvPr id="18" name="card body 182"/>
          <p:cNvSpPr txBox="1"/>
          <p:nvPr/>
        </p:nvSpPr>
        <p:spPr>
          <a:xfrm>
            <a:off x="6135624" y="1499616"/>
            <a:ext cx="2404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SW? LED!  one shot: click S2 first, then Run. The raw bit is copied straight through, so pressed (0) lights D2.</a:t>
            </a:r>
            <a:endParaRPr lang="en-US" sz="1050" dirty="0"/>
          </a:p>
        </p:txBody>
      </p:sp>
      <p:sp>
        <p:nvSpPr>
          <p:cNvPr id="19" name="card 183"/>
          <p:cNvSpPr/>
          <p:nvPr/>
        </p:nvSpPr>
        <p:spPr>
          <a:xfrm>
            <a:off x="457200" y="315468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184"/>
          <p:cNvSpPr/>
          <p:nvPr/>
        </p:nvSpPr>
        <p:spPr>
          <a:xfrm>
            <a:off x="603504" y="329184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glyph 185"/>
          <p:cNvSpPr txBox="1"/>
          <p:nvPr/>
        </p:nvSpPr>
        <p:spPr>
          <a:xfrm>
            <a:off x="603504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card head 186"/>
          <p:cNvSpPr txBox="1"/>
          <p:nvPr/>
        </p:nvSpPr>
        <p:spPr>
          <a:xfrm>
            <a:off x="1042416" y="326440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Loop Switch LED (13)</a:t>
            </a:r>
            <a:endParaRPr lang="en-US" sz="1400" dirty="0"/>
          </a:p>
        </p:txBody>
      </p:sp>
      <p:sp>
        <p:nvSpPr>
          <p:cNvPr id="23" name="card body 187"/>
          <p:cNvSpPr txBox="1"/>
          <p:nvPr/>
        </p:nvSpPr>
        <p:spPr>
          <a:xfrm>
            <a:off x="603504" y="3739896"/>
            <a:ext cx="37307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MIRROR polls SW? LED! 16,000 times with two delay loops between reads. Toggle S2 while it runs and D2 follows within a tick.</a:t>
            </a:r>
            <a:endParaRPr lang="en-US" sz="1050" dirty="0"/>
          </a:p>
        </p:txBody>
      </p:sp>
      <p:sp>
        <p:nvSpPr>
          <p:cNvPr id="24" name="regression caption"/>
          <p:cNvSpPr txBox="1"/>
          <p:nvPr/>
        </p:nvSpPr>
        <p:spPr>
          <a:xfrm>
            <a:off x="466344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regression, and the tests that now guard it</a:t>
            </a:r>
            <a:endParaRPr lang="en-US" sz="1200" dirty="0"/>
          </a:p>
        </p:txBody>
      </p:sp>
      <p:sp>
        <p:nvSpPr>
          <p:cNvPr id="25" name="bullets 188"/>
          <p:cNvSpPr txBox="1"/>
          <p:nvPr/>
        </p:nvSpPr>
        <p:spPr>
          <a:xfrm>
            <a:off x="4663440" y="3456432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April 2026: the delay loops leaked two cells per turn; the 3 KB stack overflowed after ~500 turns and the halted CPU looked like a dead LED.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Web: tests/led_switch_demo.rs boots each kernel headlessly, presses S2 mid-run and asserts D2 follows and the stack does not drift.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CLI: cor24-emu --switch-at 6000000:on,8000000:off logs [S2 @ N] and [LED @ N] lines for reg-rs golden tests.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Define, run, list, redefine</a:t>
            </a:r>
            <a:endParaRPr lang="en-US" sz="2600" dirty="0"/>
          </a:p>
        </p:txBody>
      </p:sp>
      <p:sp>
        <p:nvSpPr>
          <p:cNvPr id="3" name="define card"/>
          <p:cNvSpPr/>
          <p:nvPr/>
        </p:nvSpPr>
        <p:spPr>
          <a:xfrm>
            <a:off x="457200" y="91440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efine head"/>
          <p:cNvSpPr txBox="1"/>
          <p:nvPr/>
        </p:nvSpPr>
        <p:spPr>
          <a:xfrm>
            <a:off x="603504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Define</a:t>
            </a:r>
            <a:endParaRPr lang="en-US" sz="1400" dirty="0"/>
          </a:p>
        </p:txBody>
      </p:sp>
      <p:sp>
        <p:nvSpPr>
          <p:cNvPr id="5" name="code background 189"/>
          <p:cNvSpPr/>
          <p:nvPr/>
        </p:nvSpPr>
        <p:spPr>
          <a:xfrm>
            <a:off x="603504" y="1298448"/>
            <a:ext cx="3730752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de 190"/>
          <p:cNvSpPr txBox="1"/>
          <p:nvPr/>
        </p:nvSpPr>
        <p:spPr>
          <a:xfrm>
            <a:off x="731520" y="13716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SQUARE ( n -- n*n )  DUP * 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</a:t>
            </a:r>
            <a:endParaRPr lang="en-US" sz="1050" dirty="0"/>
          </a:p>
        </p:txBody>
      </p:sp>
      <p:sp>
        <p:nvSpPr>
          <p:cNvPr id="7" name="define body"/>
          <p:cNvSpPr txBox="1"/>
          <p:nvPr/>
        </p:nvSpPr>
        <p:spPr>
          <a:xfrm>
            <a:off x="603504" y="201168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Colon opens a definition, semicolon closes it. A word can call itself by name (recursion). Definitions live until Reset.</a:t>
            </a:r>
            <a:endParaRPr lang="en-US" sz="1050" dirty="0"/>
          </a:p>
        </p:txBody>
      </p:sp>
      <p:sp>
        <p:nvSpPr>
          <p:cNvPr id="8" name="run card"/>
          <p:cNvSpPr/>
          <p:nvPr/>
        </p:nvSpPr>
        <p:spPr>
          <a:xfrm>
            <a:off x="4663440" y="91440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un head"/>
          <p:cNvSpPr txBox="1"/>
          <p:nvPr/>
        </p:nvSpPr>
        <p:spPr>
          <a:xfrm>
            <a:off x="4809744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Run</a:t>
            </a:r>
            <a:endParaRPr lang="en-US" sz="1400" dirty="0"/>
          </a:p>
        </p:txBody>
      </p:sp>
      <p:sp>
        <p:nvSpPr>
          <p:cNvPr id="10" name="code background 191"/>
          <p:cNvSpPr/>
          <p:nvPr/>
        </p:nvSpPr>
        <p:spPr>
          <a:xfrm>
            <a:off x="4809744" y="1298448"/>
            <a:ext cx="3730752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ode 192"/>
          <p:cNvSpPr txBox="1"/>
          <p:nvPr/>
        </p:nvSpPr>
        <p:spPr>
          <a:xfrm>
            <a:off x="4937760" y="13716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SQUARE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 ok</a:t>
            </a:r>
            <a:endParaRPr lang="en-US" sz="1050" dirty="0"/>
          </a:p>
        </p:txBody>
      </p:sp>
      <p:sp>
        <p:nvSpPr>
          <p:cNvPr id="12" name="run body"/>
          <p:cNvSpPr txBox="1"/>
          <p:nvPr/>
        </p:nvSpPr>
        <p:spPr>
          <a:xfrm>
            <a:off x="4809744" y="201168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Type the word and press Enter; ↑ ↓ recall history. Demos: pick one, click Run. Your own file: Upload .fth. Stop pauses; Reset reboots and forgets everything.</a:t>
            </a:r>
            <a:endParaRPr lang="en-US" sz="1050" dirty="0"/>
          </a:p>
        </p:txBody>
      </p:sp>
      <p:sp>
        <p:nvSpPr>
          <p:cNvPr id="13" name="list card"/>
          <p:cNvSpPr/>
          <p:nvPr/>
        </p:nvSpPr>
        <p:spPr>
          <a:xfrm>
            <a:off x="457200" y="288036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st head"/>
          <p:cNvSpPr txBox="1"/>
          <p:nvPr/>
        </p:nvSpPr>
        <p:spPr>
          <a:xfrm>
            <a:off x="603504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List and inspect</a:t>
            </a:r>
            <a:endParaRPr lang="en-US" sz="1400" dirty="0"/>
          </a:p>
        </p:txBody>
      </p:sp>
      <p:sp>
        <p:nvSpPr>
          <p:cNvPr id="15" name="code background 193"/>
          <p:cNvSpPr/>
          <p:nvPr/>
        </p:nvSpPr>
        <p:spPr>
          <a:xfrm>
            <a:off x="603504" y="3264408"/>
            <a:ext cx="3730752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ode 194"/>
          <p:cNvSpPr txBox="1"/>
          <p:nvPr/>
        </p:nvSpPr>
        <p:spPr>
          <a:xfrm>
            <a:off x="731520" y="3337560"/>
            <a:ext cx="3474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         \ newest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SQUARE     \ tabs 2 and 3: DUP * 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DUMP-ALL       \ every word with address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.S  DEPTH .</a:t>
            </a:r>
            <a:endParaRPr lang="en-US" sz="1000" dirty="0"/>
          </a:p>
        </p:txBody>
      </p:sp>
      <p:sp>
        <p:nvSpPr>
          <p:cNvPr id="17" name="list body"/>
          <p:cNvSpPr txBox="1"/>
          <p:nvPr/>
        </p:nvSpPr>
        <p:spPr>
          <a:xfrm>
            <a:off x="603504" y="4169664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WORDS on every tab; SEE, SEE-CFA, DUMP-ALL and ' need the Forth-defined kernels.</a:t>
            </a:r>
            <a:endParaRPr lang="en-US" sz="1050" dirty="0"/>
          </a:p>
        </p:txBody>
      </p:sp>
      <p:sp>
        <p:nvSpPr>
          <p:cNvPr id="18" name="redefine card"/>
          <p:cNvSpPr/>
          <p:nvPr/>
        </p:nvSpPr>
        <p:spPr>
          <a:xfrm>
            <a:off x="4663440" y="288036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define head"/>
          <p:cNvSpPr txBox="1"/>
          <p:nvPr/>
        </p:nvSpPr>
        <p:spPr>
          <a:xfrm>
            <a:off x="4809744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Redefine, edit, forget</a:t>
            </a:r>
            <a:endParaRPr lang="en-US" sz="1400" dirty="0"/>
          </a:p>
        </p:txBody>
      </p:sp>
      <p:sp>
        <p:nvSpPr>
          <p:cNvPr id="20" name="code background 195"/>
          <p:cNvSpPr/>
          <p:nvPr/>
        </p:nvSpPr>
        <p:spPr>
          <a:xfrm>
            <a:off x="4809744" y="3264408"/>
            <a:ext cx="3730752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code 196"/>
          <p:cNvSpPr txBox="1"/>
          <p:nvPr/>
        </p:nvSpPr>
        <p:spPr>
          <a:xfrm>
            <a:off x="4937760" y="333756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GREET  72 EMIT 105 EMIT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TWICE  GREET GREET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GREET  72 EMIT 101 EMIT 121 EMIT ; \ shadows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TWICE          \ old GREET, twice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FORGET GREET   \ forth.s only</a:t>
            </a:r>
            <a:endParaRPr lang="en-US" sz="950" dirty="0"/>
          </a:p>
        </p:txBody>
      </p:sp>
      <p:sp>
        <p:nvSpPr>
          <p:cNvPr id="22" name="redefine body"/>
          <p:cNvSpPr txBox="1"/>
          <p:nvPr/>
        </p:nvSpPr>
        <p:spPr>
          <a:xfrm>
            <a:off x="4809744" y="422452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 new definition sits in front of the old one; earlier callers keep the binding they compiled. To edit: fix the source, then FORGET (forth.s) or Reset and re-run the file.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Known quirks and open items</a:t>
            </a:r>
            <a:endParaRPr lang="en-US" sz="2600" dirty="0"/>
          </a:p>
        </p:txBody>
      </p:sp>
      <p:sp>
        <p:nvSpPr>
          <p:cNvPr id="3" name="quirk icon 197"/>
          <p:cNvSpPr/>
          <p:nvPr/>
        </p:nvSpPr>
        <p:spPr>
          <a:xfrm>
            <a:off x="457200" y="1005840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quirk glyph 198"/>
          <p:cNvSpPr txBox="1"/>
          <p:nvPr/>
        </p:nvSpPr>
        <p:spPr>
          <a:xfrm>
            <a:off x="457200" y="1005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5" name="quirk head 199"/>
          <p:cNvSpPr txBox="1"/>
          <p:nvPr/>
        </p:nvSpPr>
        <p:spPr>
          <a:xfrm>
            <a:off x="1097280" y="9144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Fixed today: forth-on-forthish rejected negative literals</a:t>
            </a:r>
            <a:endParaRPr lang="en-US" sz="1400" dirty="0"/>
          </a:p>
        </p:txBody>
      </p:sp>
      <p:sp>
        <p:nvSpPr>
          <p:cNvPr id="6" name="quirk body 200"/>
          <p:cNvSpPr txBox="1"/>
          <p:nvPr/>
        </p:nvSpPr>
        <p:spPr>
          <a:xfrm>
            <a:off x="1097280" y="121615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Its Forth NUMBER read the minus sign from the wrong stack cell, so -1 printed ? and left the stack short. Fixed 2026-10-23 in core/highlevel.fth; the tab 3 demos it broke (CONSTANT, DO LOOP, IF THEN, IF ELSE, Self Test) return with the next web build.</a:t>
            </a:r>
            <a:endParaRPr lang="en-US" sz="1100" dirty="0"/>
          </a:p>
        </p:txBody>
      </p:sp>
      <p:sp>
        <p:nvSpPr>
          <p:cNvPr id="7" name="quirk icon 201"/>
          <p:cNvSpPr/>
          <p:nvPr/>
        </p:nvSpPr>
        <p:spPr>
          <a:xfrm>
            <a:off x="457200" y="1938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quirk glyph 202"/>
          <p:cNvSpPr txBox="1"/>
          <p:nvPr/>
        </p:nvSpPr>
        <p:spPr>
          <a:xfrm>
            <a:off x="45720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9" name="quirk head 203"/>
          <p:cNvSpPr txBox="1"/>
          <p:nvPr/>
        </p:nvSpPr>
        <p:spPr>
          <a:xfrm>
            <a:off x="1097280" y="18470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LED! and SW? are raw active-low bits</a:t>
            </a:r>
            <a:endParaRPr lang="en-US" sz="1400" dirty="0"/>
          </a:p>
        </p:txBody>
      </p:sp>
      <p:sp>
        <p:nvSpPr>
          <p:cNvPr id="10" name="quirk body 204"/>
          <p:cNvSpPr txBox="1"/>
          <p:nvPr/>
        </p:nvSpPr>
        <p:spPr>
          <a:xfrm>
            <a:off x="1097280" y="21488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 LED! lights D2 and SW? returns 0 while pressed. The Help text still says non-zero on and -1 pressed; one of the two should change.</a:t>
            </a:r>
            <a:endParaRPr lang="en-US" sz="1100" dirty="0"/>
          </a:p>
        </p:txBody>
      </p:sp>
      <p:sp>
        <p:nvSpPr>
          <p:cNvPr id="11" name="quirk icon 205"/>
          <p:cNvSpPr/>
          <p:nvPr/>
        </p:nvSpPr>
        <p:spPr>
          <a:xfrm>
            <a:off x="457200" y="287121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quirk glyph 206"/>
          <p:cNvSpPr txBox="1"/>
          <p:nvPr/>
        </p:nvSpPr>
        <p:spPr>
          <a:xfrm>
            <a:off x="457200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</a:t>
            </a:r>
            <a:endParaRPr lang="en-US" sz="1400" dirty="0"/>
          </a:p>
        </p:txBody>
      </p:sp>
      <p:sp>
        <p:nvSpPr>
          <p:cNvPr id="13" name="quirk head 207"/>
          <p:cNvSpPr txBox="1"/>
          <p:nvPr/>
        </p:nvSpPr>
        <p:spPr>
          <a:xfrm>
            <a:off x="1097280" y="277977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FORGET exists only on forth.s</a:t>
            </a:r>
            <a:endParaRPr lang="en-US" sz="1400" dirty="0"/>
          </a:p>
        </p:txBody>
      </p:sp>
      <p:sp>
        <p:nvSpPr>
          <p:cNvPr id="14" name="quirk body 208"/>
          <p:cNvSpPr txBox="1"/>
          <p:nvPr/>
        </p:nvSpPr>
        <p:spPr>
          <a:xfrm>
            <a:off x="1097280" y="308152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Tabs 2 and 3 redefine by shadowing; reclaiming dictionary space means Reset.</a:t>
            </a:r>
            <a:endParaRPr lang="en-US" sz="1100" dirty="0"/>
          </a:p>
        </p:txBody>
      </p:sp>
      <p:sp>
        <p:nvSpPr>
          <p:cNvPr id="15" name="quirk icon 209"/>
          <p:cNvSpPr/>
          <p:nvPr/>
        </p:nvSpPr>
        <p:spPr>
          <a:xfrm>
            <a:off x="457200" y="3803904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quirk glyph 210"/>
          <p:cNvSpPr txBox="1"/>
          <p:nvPr/>
        </p:nvSpPr>
        <p:spPr>
          <a:xfrm>
            <a:off x="45720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</a:t>
            </a:r>
            <a:endParaRPr lang="en-US" sz="1400" dirty="0"/>
          </a:p>
        </p:txBody>
      </p:sp>
      <p:sp>
        <p:nvSpPr>
          <p:cNvPr id="17" name="quirk head 211"/>
          <p:cNvSpPr txBox="1"/>
          <p:nvPr/>
        </p:nvSpPr>
        <p:spPr>
          <a:xfrm>
            <a:off x="1097280" y="37124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loose ends</a:t>
            </a:r>
            <a:endParaRPr lang="en-US" sz="1400" dirty="0"/>
          </a:p>
        </p:txBody>
      </p:sp>
      <p:sp>
        <p:nvSpPr>
          <p:cNvPr id="18" name="quirk body 212"/>
          <p:cNvSpPr txBox="1"/>
          <p:nvPr/>
        </p:nvSpPr>
        <p:spPr>
          <a:xfrm>
            <a:off x="1097280" y="401421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83-test reg-rs suite passes, but the 600 M-instruction stack-leak test can time out under --parallel and passes alone. The web help doc test lists 12 kernel words with no reference entry.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Try 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sw-embed.github.io/web-sw-cor24-forth (three kernels, press ? for the guide)  ·  swtos.softwarewrighter.com/forth/ (forth.s as an SWTOS pane: bg forth)</a:t>
            </a:r>
            <a:endParaRPr lang="en-US" sz="1800" dirty="0"/>
          </a:p>
        </p:txBody>
      </p:sp>
      <p:sp>
        <p:nvSpPr>
          <p:cNvPr id="4" name="repos caption"/>
          <p:cNvSpPr txBox="1"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Repositories, all under github.com/sw-embed</a:t>
            </a:r>
            <a:endParaRPr lang="en-US" sz="1100" dirty="0"/>
          </a:p>
        </p:txBody>
      </p:sp>
      <p:sp>
        <p:nvSpPr>
          <p:cNvPr id="5" name="link label 213"/>
          <p:cNvSpPr txBox="1"/>
          <p:nvPr/>
        </p:nvSpPr>
        <p:spPr>
          <a:xfrm>
            <a:off x="548640" y="37490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Web UI</a:t>
            </a:r>
            <a:endParaRPr lang="en-US" sz="1100" dirty="0"/>
          </a:p>
        </p:txBody>
      </p:sp>
      <p:sp>
        <p:nvSpPr>
          <p:cNvPr id="6" name="link url 214"/>
          <p:cNvSpPr txBox="1"/>
          <p:nvPr/>
        </p:nvSpPr>
        <p:spPr>
          <a:xfrm>
            <a:off x="2377440" y="3749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web-sw-cor24-forth</a:t>
            </a:r>
            <a:endParaRPr lang="en-US" sz="1100" dirty="0"/>
          </a:p>
        </p:txBody>
      </p:sp>
      <p:sp>
        <p:nvSpPr>
          <p:cNvPr id="7" name="link label 215"/>
          <p:cNvSpPr txBox="1"/>
          <p:nvPr/>
        </p:nvSpPr>
        <p:spPr>
          <a:xfrm>
            <a:off x="4663440" y="37490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Kernels and demos</a:t>
            </a:r>
            <a:endParaRPr lang="en-US" sz="1100" dirty="0"/>
          </a:p>
        </p:txBody>
      </p:sp>
      <p:sp>
        <p:nvSpPr>
          <p:cNvPr id="8" name="link url 216"/>
          <p:cNvSpPr txBox="1"/>
          <p:nvPr/>
        </p:nvSpPr>
        <p:spPr>
          <a:xfrm>
            <a:off x="6492240" y="3749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sw-cor24-forth</a:t>
            </a:r>
            <a:endParaRPr lang="en-US" sz="1100" dirty="0"/>
          </a:p>
        </p:txBody>
      </p:sp>
      <p:sp>
        <p:nvSpPr>
          <p:cNvPr id="9" name="link label 217"/>
          <p:cNvSpPr txBox="1"/>
          <p:nvPr/>
        </p:nvSpPr>
        <p:spPr>
          <a:xfrm>
            <a:off x="548640" y="40782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Emulator and CLI</a:t>
            </a:r>
            <a:endParaRPr lang="en-US" sz="1100" dirty="0"/>
          </a:p>
        </p:txBody>
      </p:sp>
      <p:sp>
        <p:nvSpPr>
          <p:cNvPr id="10" name="link url 218"/>
          <p:cNvSpPr txBox="1"/>
          <p:nvPr/>
        </p:nvSpPr>
        <p:spPr>
          <a:xfrm>
            <a:off x="2377440" y="40782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sw-cor24-emulator</a:t>
            </a:r>
            <a:endParaRPr lang="en-US" sz="1100" dirty="0"/>
          </a:p>
        </p:txBody>
      </p:sp>
      <p:sp>
        <p:nvSpPr>
          <p:cNvPr id="11" name="link label 219"/>
          <p:cNvSpPr txBox="1"/>
          <p:nvPr/>
        </p:nvSpPr>
        <p:spPr>
          <a:xfrm>
            <a:off x="4663440" y="40782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Assembler</a:t>
            </a:r>
            <a:endParaRPr lang="en-US" sz="1100" dirty="0"/>
          </a:p>
        </p:txBody>
      </p:sp>
      <p:sp>
        <p:nvSpPr>
          <p:cNvPr id="12" name="link url 220"/>
          <p:cNvSpPr txBox="1"/>
          <p:nvPr/>
        </p:nvSpPr>
        <p:spPr>
          <a:xfrm>
            <a:off x="6492240" y="40782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sw-cor24-x-assembler</a:t>
            </a:r>
            <a:endParaRPr lang="en-US" sz="1100" dirty="0"/>
          </a:p>
        </p:txBody>
      </p:sp>
      <p:sp>
        <p:nvSpPr>
          <p:cNvPr id="13" name="link label 221"/>
          <p:cNvSpPr txBox="1"/>
          <p:nvPr/>
        </p:nvSpPr>
        <p:spPr>
          <a:xfrm>
            <a:off x="548640" y="4407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SWTOS and its web demo</a:t>
            </a:r>
            <a:endParaRPr lang="en-US" sz="1100" dirty="0"/>
          </a:p>
        </p:txBody>
      </p:sp>
      <p:sp>
        <p:nvSpPr>
          <p:cNvPr id="14" name="link url 222"/>
          <p:cNvSpPr txBox="1"/>
          <p:nvPr/>
        </p:nvSpPr>
        <p:spPr>
          <a:xfrm>
            <a:off x="2377440" y="44074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sw-tos, web-sw-tos</a:t>
            </a:r>
            <a:endParaRPr lang="en-US" sz="1100" dirty="0"/>
          </a:p>
        </p:txBody>
      </p:sp>
      <p:sp>
        <p:nvSpPr>
          <p:cNvPr id="15" name="link label 223"/>
          <p:cNvSpPr txBox="1"/>
          <p:nvPr/>
        </p:nvSpPr>
        <p:spPr>
          <a:xfrm>
            <a:off x="4663440" y="4407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Board</a:t>
            </a:r>
            <a:endParaRPr lang="en-US" sz="1100" dirty="0"/>
          </a:p>
        </p:txBody>
      </p:sp>
      <p:sp>
        <p:nvSpPr>
          <p:cNvPr id="16" name="link url 224"/>
          <p:cNvSpPr txBox="1"/>
          <p:nvPr/>
        </p:nvSpPr>
        <p:spPr>
          <a:xfrm>
            <a:off x="6492240" y="44074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makerlisp.com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24 Forth">
  <a:themeElements>
    <a:clrScheme name="COR24 Forth">
      <a:dk1>
        <a:srgbClr val="1E2228"/>
      </a:dk1>
      <a:lt1>
        <a:srgbClr val="FFFFFF"/>
      </a:lt1>
      <a:dk2>
        <a:srgbClr val="2B6777"/>
      </a:dk2>
      <a:lt2>
        <a:srgbClr val="EEF3F5"/>
      </a:lt2>
      <a:accent1>
        <a:srgbClr val="E07A1F"/>
      </a:accent1>
      <a:accent2>
        <a:srgbClr val="2B6777"/>
      </a:accent2>
      <a:accent3>
        <a:srgbClr val="C8102E"/>
      </a:accent3>
      <a:accent4>
        <a:srgbClr val="6C8EAD"/>
      </a:accent4>
      <a:accent5>
        <a:srgbClr val="8A949E"/>
      </a:accent5>
      <a:accent6>
        <a:srgbClr val="3E7C4A"/>
      </a:accent6>
      <a:hlink>
        <a:srgbClr val="2B6777"/>
      </a:hlink>
      <a:folHlink>
        <a:srgbClr val="6C8EAD"/>
      </a:folHlink>
    </a:clrScheme>
    <a:fontScheme name="COR24 For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Forth on COR24</dc:title>
  <dc:subject>PptxGenJS Presentation</dc:subject>
  <dc:creator>sw-embed</dc:creator>
  <cp:lastModifiedBy>sw-embed</cp:lastModifiedBy>
  <cp:revision>1</cp:revision>
  <dcterms:created xsi:type="dcterms:W3CDTF">2026-10-24T02:37:09Z</dcterms:created>
  <dcterms:modified xsi:type="dcterms:W3CDTF">2026-10-24T02:37:09Z</dcterms:modified>
</cp:coreProperties>
</file>